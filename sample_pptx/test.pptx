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49" r:id="rId3"/>
    <p:sldId id="337" r:id="rId4"/>
    <p:sldId id="474" r:id="rId5"/>
    <p:sldId id="466" r:id="rId6"/>
    <p:sldId id="467" r:id="rId7"/>
    <p:sldId id="468" r:id="rId8"/>
    <p:sldId id="469" r:id="rId10"/>
    <p:sldId id="470" r:id="rId11"/>
    <p:sldId id="484" r:id="rId12"/>
    <p:sldId id="473" r:id="rId13"/>
    <p:sldId id="475" r:id="rId14"/>
    <p:sldId id="476" r:id="rId15"/>
    <p:sldId id="477" r:id="rId16"/>
    <p:sldId id="478" r:id="rId17"/>
    <p:sldId id="479" r:id="rId18"/>
    <p:sldId id="480" r:id="rId19"/>
    <p:sldId id="481" r:id="rId20"/>
    <p:sldId id="482" r:id="rId21"/>
    <p:sldId id="483" r:id="rId22"/>
  </p:sldIdLst>
  <p:sldSz cx="12192000" cy="6858000"/>
  <p:notesSz cx="7103745" cy="10234295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23E"/>
    <a:srgbClr val="C5E0E5"/>
    <a:srgbClr val="606F78"/>
    <a:srgbClr val="57CDAB"/>
    <a:srgbClr val="30A081"/>
    <a:srgbClr val="BEECDF"/>
    <a:srgbClr val="9AE2CD"/>
    <a:srgbClr val="548235"/>
    <a:srgbClr val="E2C9C0"/>
    <a:srgbClr val="955A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8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7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1D3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圆角矩形 9"/>
          <p:cNvSpPr/>
          <p:nvPr userDrawn="1"/>
        </p:nvSpPr>
        <p:spPr>
          <a:xfrm>
            <a:off x="349885" y="280670"/>
            <a:ext cx="11492230" cy="6296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19843" y="278607"/>
            <a:ext cx="671513" cy="144000"/>
          </a:xfrm>
          <a:prstGeom prst="rect">
            <a:avLst/>
          </a:prstGeom>
          <a:solidFill>
            <a:srgbClr val="1D3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bg>
      <p:bgPr>
        <a:solidFill>
          <a:srgbClr val="DFD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 flipV="1">
            <a:off x="358118" y="501443"/>
            <a:ext cx="1152000" cy="1150374"/>
          </a:xfrm>
          <a:prstGeom prst="rect">
            <a:avLst/>
          </a:prstGeom>
          <a:solidFill>
            <a:srgbClr val="1D3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 flipV="1">
            <a:off x="10708622" y="5252878"/>
            <a:ext cx="1152000" cy="1150374"/>
          </a:xfrm>
          <a:prstGeom prst="rect">
            <a:avLst/>
          </a:prstGeom>
          <a:solidFill>
            <a:srgbClr val="1D3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 rot="16200000" flipV="1">
            <a:off x="3833121" y="-2652389"/>
            <a:ext cx="4525759" cy="12192000"/>
          </a:xfrm>
          <a:prstGeom prst="parallelogram">
            <a:avLst/>
          </a:prstGeom>
          <a:solidFill>
            <a:srgbClr val="1D3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9"/>
          <p:cNvSpPr/>
          <p:nvPr/>
        </p:nvSpPr>
        <p:spPr>
          <a:xfrm flipV="1">
            <a:off x="463074" y="619220"/>
            <a:ext cx="11265853" cy="5648781"/>
          </a:xfrm>
          <a:prstGeom prst="rect">
            <a:avLst/>
          </a:prstGeom>
          <a:solidFill>
            <a:schemeClr val="bg1"/>
          </a:solidFill>
          <a:ln>
            <a:solidFill>
              <a:srgbClr val="1D323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wave_166892"/>
          <p:cNvSpPr>
            <a:spLocks noChangeAspect="1"/>
          </p:cNvSpPr>
          <p:nvPr/>
        </p:nvSpPr>
        <p:spPr bwMode="auto">
          <a:xfrm flipV="1">
            <a:off x="703016" y="5674962"/>
            <a:ext cx="609685" cy="35448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606750" h="352774">
                <a:moveTo>
                  <a:pt x="303425" y="267513"/>
                </a:moveTo>
                <a:cubicBezTo>
                  <a:pt x="325394" y="267612"/>
                  <a:pt x="345983" y="276069"/>
                  <a:pt x="361548" y="291607"/>
                </a:cubicBezTo>
                <a:cubicBezTo>
                  <a:pt x="373173" y="303211"/>
                  <a:pt x="391989" y="303211"/>
                  <a:pt x="403614" y="291607"/>
                </a:cubicBezTo>
                <a:cubicBezTo>
                  <a:pt x="419081" y="276069"/>
                  <a:pt x="439769" y="267513"/>
                  <a:pt x="461738" y="267513"/>
                </a:cubicBezTo>
                <a:cubicBezTo>
                  <a:pt x="483706" y="267612"/>
                  <a:pt x="504394" y="276069"/>
                  <a:pt x="519861" y="291607"/>
                </a:cubicBezTo>
                <a:cubicBezTo>
                  <a:pt x="525476" y="297212"/>
                  <a:pt x="532964" y="300260"/>
                  <a:pt x="540943" y="300260"/>
                </a:cubicBezTo>
                <a:cubicBezTo>
                  <a:pt x="548824" y="300260"/>
                  <a:pt x="556311" y="297212"/>
                  <a:pt x="561927" y="291607"/>
                </a:cubicBezTo>
                <a:cubicBezTo>
                  <a:pt x="572172" y="281379"/>
                  <a:pt x="588821" y="281379"/>
                  <a:pt x="599067" y="291607"/>
                </a:cubicBezTo>
                <a:cubicBezTo>
                  <a:pt x="609312" y="301834"/>
                  <a:pt x="609312" y="318453"/>
                  <a:pt x="599067" y="328680"/>
                </a:cubicBezTo>
                <a:cubicBezTo>
                  <a:pt x="583501" y="344218"/>
                  <a:pt x="562912" y="352774"/>
                  <a:pt x="540943" y="352774"/>
                </a:cubicBezTo>
                <a:cubicBezTo>
                  <a:pt x="518975" y="352774"/>
                  <a:pt x="498286" y="344218"/>
                  <a:pt x="482721" y="328680"/>
                </a:cubicBezTo>
                <a:cubicBezTo>
                  <a:pt x="477106" y="323075"/>
                  <a:pt x="469717" y="320027"/>
                  <a:pt x="461738" y="320027"/>
                </a:cubicBezTo>
                <a:cubicBezTo>
                  <a:pt x="453758" y="320027"/>
                  <a:pt x="446369" y="323075"/>
                  <a:pt x="440754" y="328680"/>
                </a:cubicBezTo>
                <a:cubicBezTo>
                  <a:pt x="408638" y="360739"/>
                  <a:pt x="356426" y="360739"/>
                  <a:pt x="324409" y="328680"/>
                </a:cubicBezTo>
                <a:cubicBezTo>
                  <a:pt x="318793" y="323075"/>
                  <a:pt x="311306" y="320027"/>
                  <a:pt x="303425" y="320027"/>
                </a:cubicBezTo>
                <a:cubicBezTo>
                  <a:pt x="295445" y="320027"/>
                  <a:pt x="287958" y="323075"/>
                  <a:pt x="282343" y="328680"/>
                </a:cubicBezTo>
                <a:cubicBezTo>
                  <a:pt x="250326" y="360739"/>
                  <a:pt x="198113" y="360739"/>
                  <a:pt x="166096" y="328680"/>
                </a:cubicBezTo>
                <a:cubicBezTo>
                  <a:pt x="154471" y="317175"/>
                  <a:pt x="135655" y="317175"/>
                  <a:pt x="124030" y="328680"/>
                </a:cubicBezTo>
                <a:cubicBezTo>
                  <a:pt x="91915" y="360739"/>
                  <a:pt x="39800" y="360739"/>
                  <a:pt x="7685" y="328680"/>
                </a:cubicBezTo>
                <a:cubicBezTo>
                  <a:pt x="-2561" y="318453"/>
                  <a:pt x="-2561" y="301834"/>
                  <a:pt x="7685" y="291607"/>
                </a:cubicBezTo>
                <a:cubicBezTo>
                  <a:pt x="17930" y="281379"/>
                  <a:pt x="34579" y="281379"/>
                  <a:pt x="44825" y="291607"/>
                </a:cubicBezTo>
                <a:cubicBezTo>
                  <a:pt x="56449" y="303211"/>
                  <a:pt x="75266" y="303211"/>
                  <a:pt x="86890" y="291607"/>
                </a:cubicBezTo>
                <a:cubicBezTo>
                  <a:pt x="118908" y="259548"/>
                  <a:pt x="171120" y="259548"/>
                  <a:pt x="203236" y="291607"/>
                </a:cubicBezTo>
                <a:cubicBezTo>
                  <a:pt x="214762" y="303211"/>
                  <a:pt x="233677" y="303211"/>
                  <a:pt x="245203" y="291607"/>
                </a:cubicBezTo>
                <a:cubicBezTo>
                  <a:pt x="260768" y="276069"/>
                  <a:pt x="281456" y="267513"/>
                  <a:pt x="303425" y="267513"/>
                </a:cubicBezTo>
                <a:close/>
                <a:moveTo>
                  <a:pt x="303425" y="133727"/>
                </a:moveTo>
                <a:cubicBezTo>
                  <a:pt x="325394" y="133825"/>
                  <a:pt x="345983" y="142288"/>
                  <a:pt x="361548" y="157837"/>
                </a:cubicBezTo>
                <a:cubicBezTo>
                  <a:pt x="373173" y="169449"/>
                  <a:pt x="391989" y="169449"/>
                  <a:pt x="403614" y="157837"/>
                </a:cubicBezTo>
                <a:cubicBezTo>
                  <a:pt x="419081" y="142288"/>
                  <a:pt x="439769" y="133727"/>
                  <a:pt x="461738" y="133727"/>
                </a:cubicBezTo>
                <a:cubicBezTo>
                  <a:pt x="483706" y="133825"/>
                  <a:pt x="504394" y="142288"/>
                  <a:pt x="519861" y="157837"/>
                </a:cubicBezTo>
                <a:cubicBezTo>
                  <a:pt x="525476" y="163446"/>
                  <a:pt x="532964" y="166497"/>
                  <a:pt x="540943" y="166497"/>
                </a:cubicBezTo>
                <a:cubicBezTo>
                  <a:pt x="548824" y="166497"/>
                  <a:pt x="556311" y="163446"/>
                  <a:pt x="561927" y="157837"/>
                </a:cubicBezTo>
                <a:cubicBezTo>
                  <a:pt x="572172" y="147602"/>
                  <a:pt x="588821" y="147602"/>
                  <a:pt x="599067" y="157837"/>
                </a:cubicBezTo>
                <a:cubicBezTo>
                  <a:pt x="609312" y="168071"/>
                  <a:pt x="609312" y="184702"/>
                  <a:pt x="599067" y="194936"/>
                </a:cubicBezTo>
                <a:cubicBezTo>
                  <a:pt x="583501" y="210485"/>
                  <a:pt x="562912" y="219046"/>
                  <a:pt x="540943" y="219046"/>
                </a:cubicBezTo>
                <a:cubicBezTo>
                  <a:pt x="518975" y="219046"/>
                  <a:pt x="498286" y="210485"/>
                  <a:pt x="482721" y="194936"/>
                </a:cubicBezTo>
                <a:cubicBezTo>
                  <a:pt x="477106" y="189327"/>
                  <a:pt x="469717" y="186276"/>
                  <a:pt x="461738" y="186276"/>
                </a:cubicBezTo>
                <a:cubicBezTo>
                  <a:pt x="453758" y="186276"/>
                  <a:pt x="446369" y="189327"/>
                  <a:pt x="440754" y="194936"/>
                </a:cubicBezTo>
                <a:cubicBezTo>
                  <a:pt x="408638" y="227017"/>
                  <a:pt x="356426" y="227017"/>
                  <a:pt x="324409" y="194936"/>
                </a:cubicBezTo>
                <a:cubicBezTo>
                  <a:pt x="318793" y="189327"/>
                  <a:pt x="311306" y="186276"/>
                  <a:pt x="303425" y="186276"/>
                </a:cubicBezTo>
                <a:cubicBezTo>
                  <a:pt x="295445" y="186276"/>
                  <a:pt x="287958" y="189327"/>
                  <a:pt x="282343" y="194936"/>
                </a:cubicBezTo>
                <a:cubicBezTo>
                  <a:pt x="250326" y="227017"/>
                  <a:pt x="198113" y="227017"/>
                  <a:pt x="166096" y="194936"/>
                </a:cubicBezTo>
                <a:cubicBezTo>
                  <a:pt x="154471" y="183423"/>
                  <a:pt x="135655" y="183423"/>
                  <a:pt x="124030" y="194936"/>
                </a:cubicBezTo>
                <a:cubicBezTo>
                  <a:pt x="91915" y="227017"/>
                  <a:pt x="39800" y="227017"/>
                  <a:pt x="7685" y="194936"/>
                </a:cubicBezTo>
                <a:cubicBezTo>
                  <a:pt x="-2561" y="184702"/>
                  <a:pt x="-2561" y="168071"/>
                  <a:pt x="7685" y="157837"/>
                </a:cubicBezTo>
                <a:cubicBezTo>
                  <a:pt x="17930" y="147602"/>
                  <a:pt x="34579" y="147602"/>
                  <a:pt x="44825" y="157837"/>
                </a:cubicBezTo>
                <a:cubicBezTo>
                  <a:pt x="56449" y="169449"/>
                  <a:pt x="75266" y="169449"/>
                  <a:pt x="86890" y="157837"/>
                </a:cubicBezTo>
                <a:cubicBezTo>
                  <a:pt x="118908" y="125756"/>
                  <a:pt x="171120" y="125756"/>
                  <a:pt x="203236" y="157837"/>
                </a:cubicBezTo>
                <a:cubicBezTo>
                  <a:pt x="214762" y="169449"/>
                  <a:pt x="233677" y="169449"/>
                  <a:pt x="245203" y="157837"/>
                </a:cubicBezTo>
                <a:cubicBezTo>
                  <a:pt x="260768" y="142288"/>
                  <a:pt x="281456" y="133727"/>
                  <a:pt x="303425" y="133727"/>
                </a:cubicBezTo>
                <a:close/>
                <a:moveTo>
                  <a:pt x="303425" y="0"/>
                </a:moveTo>
                <a:cubicBezTo>
                  <a:pt x="325394" y="99"/>
                  <a:pt x="345983" y="8556"/>
                  <a:pt x="361548" y="24094"/>
                </a:cubicBezTo>
                <a:cubicBezTo>
                  <a:pt x="373173" y="35698"/>
                  <a:pt x="391989" y="35698"/>
                  <a:pt x="403614" y="24094"/>
                </a:cubicBezTo>
                <a:cubicBezTo>
                  <a:pt x="419081" y="8556"/>
                  <a:pt x="439769" y="0"/>
                  <a:pt x="461738" y="0"/>
                </a:cubicBezTo>
                <a:cubicBezTo>
                  <a:pt x="483706" y="99"/>
                  <a:pt x="504394" y="8556"/>
                  <a:pt x="519861" y="24094"/>
                </a:cubicBezTo>
                <a:cubicBezTo>
                  <a:pt x="525476" y="29699"/>
                  <a:pt x="532964" y="32747"/>
                  <a:pt x="540943" y="32747"/>
                </a:cubicBezTo>
                <a:cubicBezTo>
                  <a:pt x="548824" y="32747"/>
                  <a:pt x="556311" y="29699"/>
                  <a:pt x="561927" y="24094"/>
                </a:cubicBezTo>
                <a:cubicBezTo>
                  <a:pt x="572172" y="13866"/>
                  <a:pt x="588821" y="13866"/>
                  <a:pt x="599067" y="24094"/>
                </a:cubicBezTo>
                <a:cubicBezTo>
                  <a:pt x="609312" y="34321"/>
                  <a:pt x="609312" y="50940"/>
                  <a:pt x="599067" y="61167"/>
                </a:cubicBezTo>
                <a:cubicBezTo>
                  <a:pt x="583501" y="76705"/>
                  <a:pt x="562912" y="85261"/>
                  <a:pt x="540943" y="85261"/>
                </a:cubicBezTo>
                <a:cubicBezTo>
                  <a:pt x="518975" y="85261"/>
                  <a:pt x="498286" y="76705"/>
                  <a:pt x="482721" y="61167"/>
                </a:cubicBezTo>
                <a:cubicBezTo>
                  <a:pt x="477106" y="55562"/>
                  <a:pt x="469717" y="52514"/>
                  <a:pt x="461738" y="52514"/>
                </a:cubicBezTo>
                <a:cubicBezTo>
                  <a:pt x="453758" y="52514"/>
                  <a:pt x="446369" y="55562"/>
                  <a:pt x="440754" y="61167"/>
                </a:cubicBezTo>
                <a:cubicBezTo>
                  <a:pt x="408638" y="93226"/>
                  <a:pt x="356426" y="93226"/>
                  <a:pt x="324409" y="61167"/>
                </a:cubicBezTo>
                <a:cubicBezTo>
                  <a:pt x="318793" y="55562"/>
                  <a:pt x="311306" y="52514"/>
                  <a:pt x="303425" y="52514"/>
                </a:cubicBezTo>
                <a:cubicBezTo>
                  <a:pt x="295445" y="52514"/>
                  <a:pt x="287958" y="55562"/>
                  <a:pt x="282343" y="61167"/>
                </a:cubicBezTo>
                <a:cubicBezTo>
                  <a:pt x="250326" y="93226"/>
                  <a:pt x="198113" y="93226"/>
                  <a:pt x="165997" y="61167"/>
                </a:cubicBezTo>
                <a:cubicBezTo>
                  <a:pt x="154471" y="49662"/>
                  <a:pt x="135655" y="49662"/>
                  <a:pt x="124030" y="61167"/>
                </a:cubicBezTo>
                <a:cubicBezTo>
                  <a:pt x="91915" y="93226"/>
                  <a:pt x="39800" y="93226"/>
                  <a:pt x="7685" y="61167"/>
                </a:cubicBezTo>
                <a:cubicBezTo>
                  <a:pt x="-2561" y="50940"/>
                  <a:pt x="-2561" y="34321"/>
                  <a:pt x="7685" y="24094"/>
                </a:cubicBezTo>
                <a:cubicBezTo>
                  <a:pt x="17930" y="13866"/>
                  <a:pt x="34579" y="13866"/>
                  <a:pt x="44825" y="24094"/>
                </a:cubicBezTo>
                <a:cubicBezTo>
                  <a:pt x="56449" y="35698"/>
                  <a:pt x="75266" y="35698"/>
                  <a:pt x="86890" y="24094"/>
                </a:cubicBezTo>
                <a:cubicBezTo>
                  <a:pt x="118908" y="-7965"/>
                  <a:pt x="171120" y="-7965"/>
                  <a:pt x="203236" y="24094"/>
                </a:cubicBezTo>
                <a:cubicBezTo>
                  <a:pt x="214762" y="35698"/>
                  <a:pt x="233677" y="35698"/>
                  <a:pt x="245203" y="24094"/>
                </a:cubicBezTo>
                <a:cubicBezTo>
                  <a:pt x="260768" y="8556"/>
                  <a:pt x="281456" y="0"/>
                  <a:pt x="303425" y="0"/>
                </a:cubicBezTo>
                <a:close/>
              </a:path>
            </a:pathLst>
          </a:custGeom>
          <a:solidFill>
            <a:srgbClr val="1D323E"/>
          </a:solidFill>
          <a:ln>
            <a:noFill/>
          </a:ln>
        </p:spPr>
      </p:sp>
      <p:sp>
        <p:nvSpPr>
          <p:cNvPr id="37" name="wave_166892"/>
          <p:cNvSpPr>
            <a:spLocks noChangeAspect="1"/>
          </p:cNvSpPr>
          <p:nvPr/>
        </p:nvSpPr>
        <p:spPr bwMode="auto">
          <a:xfrm flipV="1">
            <a:off x="10879300" y="916774"/>
            <a:ext cx="609685" cy="35448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606750" h="352774">
                <a:moveTo>
                  <a:pt x="303425" y="267513"/>
                </a:moveTo>
                <a:cubicBezTo>
                  <a:pt x="325394" y="267612"/>
                  <a:pt x="345983" y="276069"/>
                  <a:pt x="361548" y="291607"/>
                </a:cubicBezTo>
                <a:cubicBezTo>
                  <a:pt x="373173" y="303211"/>
                  <a:pt x="391989" y="303211"/>
                  <a:pt x="403614" y="291607"/>
                </a:cubicBezTo>
                <a:cubicBezTo>
                  <a:pt x="419081" y="276069"/>
                  <a:pt x="439769" y="267513"/>
                  <a:pt x="461738" y="267513"/>
                </a:cubicBezTo>
                <a:cubicBezTo>
                  <a:pt x="483706" y="267612"/>
                  <a:pt x="504394" y="276069"/>
                  <a:pt x="519861" y="291607"/>
                </a:cubicBezTo>
                <a:cubicBezTo>
                  <a:pt x="525476" y="297212"/>
                  <a:pt x="532964" y="300260"/>
                  <a:pt x="540943" y="300260"/>
                </a:cubicBezTo>
                <a:cubicBezTo>
                  <a:pt x="548824" y="300260"/>
                  <a:pt x="556311" y="297212"/>
                  <a:pt x="561927" y="291607"/>
                </a:cubicBezTo>
                <a:cubicBezTo>
                  <a:pt x="572172" y="281379"/>
                  <a:pt x="588821" y="281379"/>
                  <a:pt x="599067" y="291607"/>
                </a:cubicBezTo>
                <a:cubicBezTo>
                  <a:pt x="609312" y="301834"/>
                  <a:pt x="609312" y="318453"/>
                  <a:pt x="599067" y="328680"/>
                </a:cubicBezTo>
                <a:cubicBezTo>
                  <a:pt x="583501" y="344218"/>
                  <a:pt x="562912" y="352774"/>
                  <a:pt x="540943" y="352774"/>
                </a:cubicBezTo>
                <a:cubicBezTo>
                  <a:pt x="518975" y="352774"/>
                  <a:pt x="498286" y="344218"/>
                  <a:pt x="482721" y="328680"/>
                </a:cubicBezTo>
                <a:cubicBezTo>
                  <a:pt x="477106" y="323075"/>
                  <a:pt x="469717" y="320027"/>
                  <a:pt x="461738" y="320027"/>
                </a:cubicBezTo>
                <a:cubicBezTo>
                  <a:pt x="453758" y="320027"/>
                  <a:pt x="446369" y="323075"/>
                  <a:pt x="440754" y="328680"/>
                </a:cubicBezTo>
                <a:cubicBezTo>
                  <a:pt x="408638" y="360739"/>
                  <a:pt x="356426" y="360739"/>
                  <a:pt x="324409" y="328680"/>
                </a:cubicBezTo>
                <a:cubicBezTo>
                  <a:pt x="318793" y="323075"/>
                  <a:pt x="311306" y="320027"/>
                  <a:pt x="303425" y="320027"/>
                </a:cubicBezTo>
                <a:cubicBezTo>
                  <a:pt x="295445" y="320027"/>
                  <a:pt x="287958" y="323075"/>
                  <a:pt x="282343" y="328680"/>
                </a:cubicBezTo>
                <a:cubicBezTo>
                  <a:pt x="250326" y="360739"/>
                  <a:pt x="198113" y="360739"/>
                  <a:pt x="166096" y="328680"/>
                </a:cubicBezTo>
                <a:cubicBezTo>
                  <a:pt x="154471" y="317175"/>
                  <a:pt x="135655" y="317175"/>
                  <a:pt x="124030" y="328680"/>
                </a:cubicBezTo>
                <a:cubicBezTo>
                  <a:pt x="91915" y="360739"/>
                  <a:pt x="39800" y="360739"/>
                  <a:pt x="7685" y="328680"/>
                </a:cubicBezTo>
                <a:cubicBezTo>
                  <a:pt x="-2561" y="318453"/>
                  <a:pt x="-2561" y="301834"/>
                  <a:pt x="7685" y="291607"/>
                </a:cubicBezTo>
                <a:cubicBezTo>
                  <a:pt x="17930" y="281379"/>
                  <a:pt x="34579" y="281379"/>
                  <a:pt x="44825" y="291607"/>
                </a:cubicBezTo>
                <a:cubicBezTo>
                  <a:pt x="56449" y="303211"/>
                  <a:pt x="75266" y="303211"/>
                  <a:pt x="86890" y="291607"/>
                </a:cubicBezTo>
                <a:cubicBezTo>
                  <a:pt x="118908" y="259548"/>
                  <a:pt x="171120" y="259548"/>
                  <a:pt x="203236" y="291607"/>
                </a:cubicBezTo>
                <a:cubicBezTo>
                  <a:pt x="214762" y="303211"/>
                  <a:pt x="233677" y="303211"/>
                  <a:pt x="245203" y="291607"/>
                </a:cubicBezTo>
                <a:cubicBezTo>
                  <a:pt x="260768" y="276069"/>
                  <a:pt x="281456" y="267513"/>
                  <a:pt x="303425" y="267513"/>
                </a:cubicBezTo>
                <a:close/>
                <a:moveTo>
                  <a:pt x="303425" y="133727"/>
                </a:moveTo>
                <a:cubicBezTo>
                  <a:pt x="325394" y="133825"/>
                  <a:pt x="345983" y="142288"/>
                  <a:pt x="361548" y="157837"/>
                </a:cubicBezTo>
                <a:cubicBezTo>
                  <a:pt x="373173" y="169449"/>
                  <a:pt x="391989" y="169449"/>
                  <a:pt x="403614" y="157837"/>
                </a:cubicBezTo>
                <a:cubicBezTo>
                  <a:pt x="419081" y="142288"/>
                  <a:pt x="439769" y="133727"/>
                  <a:pt x="461738" y="133727"/>
                </a:cubicBezTo>
                <a:cubicBezTo>
                  <a:pt x="483706" y="133825"/>
                  <a:pt x="504394" y="142288"/>
                  <a:pt x="519861" y="157837"/>
                </a:cubicBezTo>
                <a:cubicBezTo>
                  <a:pt x="525476" y="163446"/>
                  <a:pt x="532964" y="166497"/>
                  <a:pt x="540943" y="166497"/>
                </a:cubicBezTo>
                <a:cubicBezTo>
                  <a:pt x="548824" y="166497"/>
                  <a:pt x="556311" y="163446"/>
                  <a:pt x="561927" y="157837"/>
                </a:cubicBezTo>
                <a:cubicBezTo>
                  <a:pt x="572172" y="147602"/>
                  <a:pt x="588821" y="147602"/>
                  <a:pt x="599067" y="157837"/>
                </a:cubicBezTo>
                <a:cubicBezTo>
                  <a:pt x="609312" y="168071"/>
                  <a:pt x="609312" y="184702"/>
                  <a:pt x="599067" y="194936"/>
                </a:cubicBezTo>
                <a:cubicBezTo>
                  <a:pt x="583501" y="210485"/>
                  <a:pt x="562912" y="219046"/>
                  <a:pt x="540943" y="219046"/>
                </a:cubicBezTo>
                <a:cubicBezTo>
                  <a:pt x="518975" y="219046"/>
                  <a:pt x="498286" y="210485"/>
                  <a:pt x="482721" y="194936"/>
                </a:cubicBezTo>
                <a:cubicBezTo>
                  <a:pt x="477106" y="189327"/>
                  <a:pt x="469717" y="186276"/>
                  <a:pt x="461738" y="186276"/>
                </a:cubicBezTo>
                <a:cubicBezTo>
                  <a:pt x="453758" y="186276"/>
                  <a:pt x="446369" y="189327"/>
                  <a:pt x="440754" y="194936"/>
                </a:cubicBezTo>
                <a:cubicBezTo>
                  <a:pt x="408638" y="227017"/>
                  <a:pt x="356426" y="227017"/>
                  <a:pt x="324409" y="194936"/>
                </a:cubicBezTo>
                <a:cubicBezTo>
                  <a:pt x="318793" y="189327"/>
                  <a:pt x="311306" y="186276"/>
                  <a:pt x="303425" y="186276"/>
                </a:cubicBezTo>
                <a:cubicBezTo>
                  <a:pt x="295445" y="186276"/>
                  <a:pt x="287958" y="189327"/>
                  <a:pt x="282343" y="194936"/>
                </a:cubicBezTo>
                <a:cubicBezTo>
                  <a:pt x="250326" y="227017"/>
                  <a:pt x="198113" y="227017"/>
                  <a:pt x="166096" y="194936"/>
                </a:cubicBezTo>
                <a:cubicBezTo>
                  <a:pt x="154471" y="183423"/>
                  <a:pt x="135655" y="183423"/>
                  <a:pt x="124030" y="194936"/>
                </a:cubicBezTo>
                <a:cubicBezTo>
                  <a:pt x="91915" y="227017"/>
                  <a:pt x="39800" y="227017"/>
                  <a:pt x="7685" y="194936"/>
                </a:cubicBezTo>
                <a:cubicBezTo>
                  <a:pt x="-2561" y="184702"/>
                  <a:pt x="-2561" y="168071"/>
                  <a:pt x="7685" y="157837"/>
                </a:cubicBezTo>
                <a:cubicBezTo>
                  <a:pt x="17930" y="147602"/>
                  <a:pt x="34579" y="147602"/>
                  <a:pt x="44825" y="157837"/>
                </a:cubicBezTo>
                <a:cubicBezTo>
                  <a:pt x="56449" y="169449"/>
                  <a:pt x="75266" y="169449"/>
                  <a:pt x="86890" y="157837"/>
                </a:cubicBezTo>
                <a:cubicBezTo>
                  <a:pt x="118908" y="125756"/>
                  <a:pt x="171120" y="125756"/>
                  <a:pt x="203236" y="157837"/>
                </a:cubicBezTo>
                <a:cubicBezTo>
                  <a:pt x="214762" y="169449"/>
                  <a:pt x="233677" y="169449"/>
                  <a:pt x="245203" y="157837"/>
                </a:cubicBezTo>
                <a:cubicBezTo>
                  <a:pt x="260768" y="142288"/>
                  <a:pt x="281456" y="133727"/>
                  <a:pt x="303425" y="133727"/>
                </a:cubicBezTo>
                <a:close/>
                <a:moveTo>
                  <a:pt x="303425" y="0"/>
                </a:moveTo>
                <a:cubicBezTo>
                  <a:pt x="325394" y="99"/>
                  <a:pt x="345983" y="8556"/>
                  <a:pt x="361548" y="24094"/>
                </a:cubicBezTo>
                <a:cubicBezTo>
                  <a:pt x="373173" y="35698"/>
                  <a:pt x="391989" y="35698"/>
                  <a:pt x="403614" y="24094"/>
                </a:cubicBezTo>
                <a:cubicBezTo>
                  <a:pt x="419081" y="8556"/>
                  <a:pt x="439769" y="0"/>
                  <a:pt x="461738" y="0"/>
                </a:cubicBezTo>
                <a:cubicBezTo>
                  <a:pt x="483706" y="99"/>
                  <a:pt x="504394" y="8556"/>
                  <a:pt x="519861" y="24094"/>
                </a:cubicBezTo>
                <a:cubicBezTo>
                  <a:pt x="525476" y="29699"/>
                  <a:pt x="532964" y="32747"/>
                  <a:pt x="540943" y="32747"/>
                </a:cubicBezTo>
                <a:cubicBezTo>
                  <a:pt x="548824" y="32747"/>
                  <a:pt x="556311" y="29699"/>
                  <a:pt x="561927" y="24094"/>
                </a:cubicBezTo>
                <a:cubicBezTo>
                  <a:pt x="572172" y="13866"/>
                  <a:pt x="588821" y="13866"/>
                  <a:pt x="599067" y="24094"/>
                </a:cubicBezTo>
                <a:cubicBezTo>
                  <a:pt x="609312" y="34321"/>
                  <a:pt x="609312" y="50940"/>
                  <a:pt x="599067" y="61167"/>
                </a:cubicBezTo>
                <a:cubicBezTo>
                  <a:pt x="583501" y="76705"/>
                  <a:pt x="562912" y="85261"/>
                  <a:pt x="540943" y="85261"/>
                </a:cubicBezTo>
                <a:cubicBezTo>
                  <a:pt x="518975" y="85261"/>
                  <a:pt x="498286" y="76705"/>
                  <a:pt x="482721" y="61167"/>
                </a:cubicBezTo>
                <a:cubicBezTo>
                  <a:pt x="477106" y="55562"/>
                  <a:pt x="469717" y="52514"/>
                  <a:pt x="461738" y="52514"/>
                </a:cubicBezTo>
                <a:cubicBezTo>
                  <a:pt x="453758" y="52514"/>
                  <a:pt x="446369" y="55562"/>
                  <a:pt x="440754" y="61167"/>
                </a:cubicBezTo>
                <a:cubicBezTo>
                  <a:pt x="408638" y="93226"/>
                  <a:pt x="356426" y="93226"/>
                  <a:pt x="324409" y="61167"/>
                </a:cubicBezTo>
                <a:cubicBezTo>
                  <a:pt x="318793" y="55562"/>
                  <a:pt x="311306" y="52514"/>
                  <a:pt x="303425" y="52514"/>
                </a:cubicBezTo>
                <a:cubicBezTo>
                  <a:pt x="295445" y="52514"/>
                  <a:pt x="287958" y="55562"/>
                  <a:pt x="282343" y="61167"/>
                </a:cubicBezTo>
                <a:cubicBezTo>
                  <a:pt x="250326" y="93226"/>
                  <a:pt x="198113" y="93226"/>
                  <a:pt x="165997" y="61167"/>
                </a:cubicBezTo>
                <a:cubicBezTo>
                  <a:pt x="154471" y="49662"/>
                  <a:pt x="135655" y="49662"/>
                  <a:pt x="124030" y="61167"/>
                </a:cubicBezTo>
                <a:cubicBezTo>
                  <a:pt x="91915" y="93226"/>
                  <a:pt x="39800" y="93226"/>
                  <a:pt x="7685" y="61167"/>
                </a:cubicBezTo>
                <a:cubicBezTo>
                  <a:pt x="-2561" y="50940"/>
                  <a:pt x="-2561" y="34321"/>
                  <a:pt x="7685" y="24094"/>
                </a:cubicBezTo>
                <a:cubicBezTo>
                  <a:pt x="17930" y="13866"/>
                  <a:pt x="34579" y="13866"/>
                  <a:pt x="44825" y="24094"/>
                </a:cubicBezTo>
                <a:cubicBezTo>
                  <a:pt x="56449" y="35698"/>
                  <a:pt x="75266" y="35698"/>
                  <a:pt x="86890" y="24094"/>
                </a:cubicBezTo>
                <a:cubicBezTo>
                  <a:pt x="118908" y="-7965"/>
                  <a:pt x="171120" y="-7965"/>
                  <a:pt x="203236" y="24094"/>
                </a:cubicBezTo>
                <a:cubicBezTo>
                  <a:pt x="214762" y="35698"/>
                  <a:pt x="233677" y="35698"/>
                  <a:pt x="245203" y="24094"/>
                </a:cubicBezTo>
                <a:cubicBezTo>
                  <a:pt x="260768" y="8556"/>
                  <a:pt x="281456" y="0"/>
                  <a:pt x="303425" y="0"/>
                </a:cubicBezTo>
                <a:close/>
              </a:path>
            </a:pathLst>
          </a:custGeom>
          <a:solidFill>
            <a:srgbClr val="1D323E"/>
          </a:solidFill>
          <a:ln>
            <a:noFill/>
          </a:ln>
        </p:spPr>
      </p:sp>
      <p:grpSp>
        <p:nvGrpSpPr>
          <p:cNvPr id="24" name="组合 23"/>
          <p:cNvGrpSpPr/>
          <p:nvPr/>
        </p:nvGrpSpPr>
        <p:grpSpPr>
          <a:xfrm>
            <a:off x="1524000" y="1916837"/>
            <a:ext cx="9144000" cy="2043129"/>
            <a:chOff x="1524000" y="1916837"/>
            <a:chExt cx="9144000" cy="2043129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1524000" y="1916837"/>
              <a:ext cx="9144000" cy="0"/>
            </a:xfrm>
            <a:prstGeom prst="line">
              <a:avLst/>
            </a:prstGeom>
            <a:ln w="19050">
              <a:solidFill>
                <a:srgbClr val="1D32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1524000" y="3959966"/>
              <a:ext cx="9144000" cy="0"/>
            </a:xfrm>
            <a:prstGeom prst="line">
              <a:avLst/>
            </a:prstGeom>
            <a:ln w="19050">
              <a:solidFill>
                <a:srgbClr val="1D32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1036955" y="2213610"/>
            <a:ext cx="98431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>
                <a:solidFill>
                  <a:srgbClr val="1D32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ACL 2026</a:t>
            </a:r>
            <a:r>
              <a:rPr lang="zh-CN" altLang="en-US" sz="6000">
                <a:solidFill>
                  <a:srgbClr val="1D32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会议论文解析</a:t>
            </a:r>
            <a:endParaRPr lang="zh-CN" altLang="en-US" sz="6000">
              <a:solidFill>
                <a:srgbClr val="1D32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2576775" y="4553076"/>
            <a:ext cx="22487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辩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人：李志强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等腰三角形 40"/>
          <p:cNvSpPr/>
          <p:nvPr>
            <p:custDataLst>
              <p:tags r:id="rId2"/>
            </p:custDataLst>
          </p:nvPr>
        </p:nvSpPr>
        <p:spPr>
          <a:xfrm rot="16200000" flipH="1">
            <a:off x="1676387" y="4613715"/>
            <a:ext cx="409603" cy="248054"/>
          </a:xfrm>
          <a:prstGeom prst="triangle">
            <a:avLst/>
          </a:prstGeom>
          <a:solidFill>
            <a:srgbClr val="1D3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>
            <p:custDataLst>
              <p:tags r:id="rId3"/>
            </p:custDataLst>
          </p:nvPr>
        </p:nvSpPr>
        <p:spPr>
          <a:xfrm rot="5400000">
            <a:off x="10104628" y="4613715"/>
            <a:ext cx="409603" cy="248054"/>
          </a:xfrm>
          <a:prstGeom prst="triangle">
            <a:avLst/>
          </a:prstGeom>
          <a:solidFill>
            <a:srgbClr val="1D3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55954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LLM </a:t>
            </a:r>
            <a:r>
              <a:rPr lang="zh-CN" altLang="en-US" sz="2000" b="1"/>
              <a:t>大语言模型</a:t>
            </a:r>
            <a:endParaRPr lang="zh-CN" altLang="en-US" sz="2000"/>
          </a:p>
          <a:p>
            <a:pPr indent="457200"/>
            <a:r>
              <a:rPr lang="en-US" altLang="zh-CN"/>
              <a:t>LLM </a:t>
            </a:r>
            <a:r>
              <a:rPr lang="zh-CN" altLang="en-US"/>
              <a:t>全称</a:t>
            </a:r>
            <a:r>
              <a:rPr lang="en-US" altLang="zh-CN"/>
              <a:t> Large Language Model</a:t>
            </a:r>
            <a:r>
              <a:rPr lang="zh-CN" altLang="en-US"/>
              <a:t>，大语言模型，是当前人工智能领域最核心的技术之一，我们日常用的</a:t>
            </a:r>
            <a:r>
              <a:rPr lang="en-US" altLang="zh-CN"/>
              <a:t> ChatGPT</a:t>
            </a:r>
            <a:r>
              <a:rPr lang="zh-CN" altLang="en-US"/>
              <a:t>、文心一言、通义千问、豆包</a:t>
            </a:r>
            <a:r>
              <a:rPr lang="en-US" altLang="zh-CN"/>
              <a:t> </a:t>
            </a:r>
            <a:r>
              <a:rPr lang="zh-CN" altLang="en-US"/>
              <a:t>等产品，底层都是</a:t>
            </a:r>
            <a:r>
              <a:rPr lang="en-US" altLang="zh-CN"/>
              <a:t> LLM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一、定义</a:t>
            </a:r>
            <a:r>
              <a:rPr lang="en-US" altLang="zh-CN" b="1"/>
              <a:t>:</a:t>
            </a:r>
            <a:r>
              <a:rPr lang="zh-CN" altLang="en-US"/>
              <a:t>一种基于海量文本数据训练、拥有巨大参数量的深度学习模型，核心能力是理解人类语言、生成人类语言，并完成翻译、写作、推理、代码等各类语言相关任务。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二、核心基础：</a:t>
            </a:r>
            <a:r>
              <a:rPr lang="en-US" altLang="zh-CN"/>
              <a:t>Transformer </a:t>
            </a:r>
            <a:r>
              <a:rPr lang="zh-CN" altLang="en-US"/>
              <a:t>架构</a:t>
            </a:r>
            <a:endParaRPr lang="zh-CN" altLang="en-US"/>
          </a:p>
          <a:p>
            <a:r>
              <a:rPr lang="zh-CN" altLang="en-US"/>
              <a:t>所有现代</a:t>
            </a:r>
            <a:r>
              <a:rPr lang="en-US" altLang="zh-CN"/>
              <a:t> LLM </a:t>
            </a:r>
            <a:r>
              <a:rPr lang="zh-CN" altLang="en-US"/>
              <a:t>都离不开</a:t>
            </a:r>
            <a:r>
              <a:rPr lang="en-US" altLang="zh-CN"/>
              <a:t> 2017 </a:t>
            </a:r>
            <a:r>
              <a:rPr lang="zh-CN" altLang="en-US"/>
              <a:t>年谷歌提出的</a:t>
            </a:r>
            <a:r>
              <a:rPr lang="en-US" altLang="zh-CN"/>
              <a:t> Transformer</a:t>
            </a:r>
            <a:r>
              <a:rPr lang="zh-CN" altLang="en-US"/>
              <a:t>，它的灵魂是：自注意力机制（</a:t>
            </a:r>
            <a:r>
              <a:rPr lang="en-US" altLang="zh-CN"/>
              <a:t>Self-Attention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三、</a:t>
            </a:r>
            <a:r>
              <a:rPr lang="en-US" altLang="zh-CN" b="1"/>
              <a:t>LLM </a:t>
            </a:r>
            <a:r>
              <a:rPr lang="zh-CN" altLang="en-US" b="1"/>
              <a:t>的核心能力</a:t>
            </a:r>
            <a:endParaRPr lang="zh-CN" altLang="en-US" b="1"/>
          </a:p>
          <a:p>
            <a:r>
              <a:rPr lang="zh-CN" altLang="en-US"/>
              <a:t>自然对话：多轮聊天、理解上下文内容生成：写文案、小说、邮件、演讲稿</a:t>
            </a:r>
            <a:endParaRPr lang="zh-CN" altLang="en-US"/>
          </a:p>
          <a:p>
            <a:r>
              <a:rPr lang="zh-CN" altLang="en-US"/>
              <a:t>理解与总结：读长文、提炼要点、问答翻译：多语言互译逻辑推理：做数学题、解逻辑题、分析问题</a:t>
            </a:r>
            <a:endParaRPr lang="zh-CN" altLang="en-US"/>
          </a:p>
          <a:p>
            <a:r>
              <a:rPr lang="zh-CN" altLang="en-US"/>
              <a:t>代码能力：写代码、查</a:t>
            </a:r>
            <a:r>
              <a:rPr lang="en-US" altLang="zh-CN"/>
              <a:t> Bug</a:t>
            </a:r>
            <a:r>
              <a:rPr lang="zh-CN" altLang="en-US"/>
              <a:t>、解释代码少样本学习：给</a:t>
            </a:r>
            <a:r>
              <a:rPr lang="en-US" altLang="zh-CN"/>
              <a:t> 1</a:t>
            </a:r>
            <a:r>
              <a:rPr lang="zh-CN" altLang="en-US"/>
              <a:t>～</a:t>
            </a:r>
            <a:r>
              <a:rPr lang="en-US" altLang="zh-CN"/>
              <a:t>2 </a:t>
            </a:r>
            <a:r>
              <a:rPr lang="zh-CN" altLang="en-US"/>
              <a:t>个例子，就能模仿做新任务，不用重新训练</a:t>
            </a:r>
            <a:endParaRPr lang="zh-CN" altLang="en-US"/>
          </a:p>
          <a:p>
            <a:endParaRPr lang="zh-CN" altLang="en-US" b="1"/>
          </a:p>
          <a:p>
            <a:r>
              <a:rPr lang="zh-CN" altLang="en-US" b="1"/>
              <a:t>四、</a:t>
            </a:r>
            <a:r>
              <a:rPr lang="en-US" altLang="zh-CN" b="1"/>
              <a:t>LLM </a:t>
            </a:r>
            <a:r>
              <a:rPr lang="zh-CN" altLang="en-US" b="1"/>
              <a:t>的局限与问题</a:t>
            </a:r>
            <a:endParaRPr lang="zh-CN" altLang="en-US" b="1"/>
          </a:p>
          <a:p>
            <a:r>
              <a:rPr lang="zh-CN" altLang="en-US"/>
              <a:t>幻觉：会一本正经地编造不存在的事实、数据、引用，这是目前最大缺陷。</a:t>
            </a:r>
            <a:endParaRPr lang="zh-CN" altLang="en-US"/>
          </a:p>
          <a:p>
            <a:r>
              <a:rPr lang="zh-CN" altLang="en-US"/>
              <a:t>上下文长度限制：只能记住有限长度的前文，太长会</a:t>
            </a:r>
            <a:r>
              <a:rPr lang="en-US" altLang="zh-CN"/>
              <a:t> “</a:t>
            </a:r>
            <a:r>
              <a:rPr lang="zh-CN" altLang="en-US"/>
              <a:t>失忆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真正理解有限：本质是统计预测，不是像人一样</a:t>
            </a:r>
            <a:r>
              <a:rPr lang="en-US" altLang="zh-CN"/>
              <a:t> “</a:t>
            </a:r>
            <a:r>
              <a:rPr lang="zh-CN" altLang="en-US"/>
              <a:t>懂</a:t>
            </a:r>
            <a:r>
              <a:rPr lang="en-US" altLang="zh-CN"/>
              <a:t>”</a:t>
            </a:r>
            <a:r>
              <a:rPr lang="zh-CN" altLang="en-US"/>
              <a:t>，复杂推理仍会出错。</a:t>
            </a:r>
            <a:endParaRPr lang="zh-CN" altLang="en-US"/>
          </a:p>
          <a:p>
            <a:r>
              <a:rPr lang="zh-CN" altLang="en-US"/>
              <a:t>训练成本极高：需要海量</a:t>
            </a:r>
            <a:r>
              <a:rPr lang="en-US" altLang="zh-CN"/>
              <a:t> GPU</a:t>
            </a:r>
            <a:r>
              <a:rPr lang="zh-CN" altLang="en-US"/>
              <a:t>、电力、数据，普通机构难以训练。</a:t>
            </a:r>
            <a:endParaRPr lang="zh-CN" altLang="en-US"/>
          </a:p>
          <a:p>
            <a:r>
              <a:rPr lang="zh-CN" altLang="en-US"/>
              <a:t>偏见与安全：会学习互联网上的偏见、错误信息，需要人工对齐约束。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395" y="4424680"/>
            <a:ext cx="551180" cy="517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424680"/>
            <a:ext cx="656590" cy="600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80" y="4353560"/>
            <a:ext cx="683895" cy="588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545" y="5189220"/>
            <a:ext cx="818515" cy="8261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980" y="5375275"/>
            <a:ext cx="670560" cy="640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060" y="5375275"/>
            <a:ext cx="638810" cy="644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55954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论文</a:t>
            </a:r>
            <a:r>
              <a:rPr lang="en-US" altLang="zh-CN" sz="2000" b="1"/>
              <a:t> 2465</a:t>
            </a:r>
            <a:endParaRPr lang="en-US" altLang="zh-CN" sz="2000" b="1"/>
          </a:p>
          <a:p>
            <a:endParaRPr lang="zh-CN" altLang="en-US" sz="2000"/>
          </a:p>
          <a:p>
            <a:r>
              <a:rPr lang="zh-CN" altLang="en-US" sz="2000"/>
              <a:t>标题：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CausalityCheck: A Framework for Evaluating Causal Reasoning in Large Language Models</a:t>
            </a:r>
            <a:endParaRPr lang="en-US" altLang="zh-CN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000"/>
              <a:t>翻译：《</a:t>
            </a:r>
            <a:r>
              <a:rPr lang="en-US" altLang="zh-CN" sz="2000"/>
              <a:t>CausalityCheck</a:t>
            </a:r>
            <a:r>
              <a:rPr lang="zh-CN" altLang="en-US" sz="2000"/>
              <a:t>：一个用于评估大语言模型因果推理能力的框架》</a:t>
            </a:r>
            <a:endParaRPr lang="zh-CN" altLang="en-US" sz="2000"/>
          </a:p>
          <a:p>
            <a:r>
              <a:rPr lang="zh-CN" altLang="en-US"/>
              <a:t>作者：</a:t>
            </a:r>
            <a:r>
              <a:rPr lang="en-US" altLang="zh-CN"/>
              <a:t>Jiang Li, Zehua Duo, Guanglai Gao, Xiangdong Su</a:t>
            </a:r>
            <a:r>
              <a:rPr lang="zh-CN" altLang="en-US"/>
              <a:t>（李江、多泽华、高光来、苏向东）</a:t>
            </a:r>
            <a:endParaRPr lang="zh-CN" altLang="en-US"/>
          </a:p>
          <a:p>
            <a:r>
              <a:rPr lang="zh-CN" altLang="en-US"/>
              <a:t>收录轨道：</a:t>
            </a:r>
            <a:r>
              <a:rPr lang="en-US" altLang="zh-CN"/>
              <a:t>ACL 2026 Findings</a:t>
            </a:r>
            <a:endParaRPr lang="en-US" altLang="zh-CN"/>
          </a:p>
          <a:p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endParaRPr lang="zh-CN" altLang="en-US" sz="2000" b="1"/>
          </a:p>
          <a:p>
            <a:r>
              <a:rPr lang="zh-CN" altLang="en-US" sz="2000" b="1"/>
              <a:t>论文</a:t>
            </a:r>
            <a:r>
              <a:rPr lang="en-US" altLang="zh-CN" sz="2000" b="1"/>
              <a:t> 2788</a:t>
            </a:r>
            <a:endParaRPr lang="en-US" altLang="zh-CN" sz="2000" b="1"/>
          </a:p>
          <a:p>
            <a:endParaRPr lang="zh-CN" altLang="en-US" sz="2000"/>
          </a:p>
          <a:p>
            <a:r>
              <a:rPr lang="zh-CN" altLang="en-US" sz="2000"/>
              <a:t>标题：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Know Your Place: Diagnosing Implicit Social Adaptation Failures in Chinese Large Language Models</a:t>
            </a:r>
            <a:endParaRPr lang="en-US" altLang="zh-CN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000"/>
              <a:t>翻译：《找准定位：诊断中文大语言模型中的隐性社会适配失效问题》</a:t>
            </a:r>
            <a:endParaRPr lang="zh-CN" altLang="en-US" sz="2000"/>
          </a:p>
          <a:p>
            <a:r>
              <a:rPr lang="zh-CN" altLang="en-US"/>
              <a:t>作者：</a:t>
            </a:r>
            <a:r>
              <a:rPr lang="en-US" altLang="zh-CN"/>
              <a:t>Yu Tian, Jie Xing, Ziming Li, Jiang Li, Zehua Duo, Tian Lan, Xu Liu, Guanglai Gao, Xiangdong Su</a:t>
            </a:r>
            <a:r>
              <a:rPr lang="zh-CN" altLang="en-US"/>
              <a:t>（田雨、邢杰、李子明、李江、多泽华、蓝天、刘旭、高光来、苏向东）</a:t>
            </a:r>
            <a:endParaRPr lang="zh-CN" altLang="en-US"/>
          </a:p>
          <a:p>
            <a:r>
              <a:rPr lang="zh-CN" altLang="en-US"/>
              <a:t>收录轨道：</a:t>
            </a:r>
            <a:r>
              <a:rPr lang="en-US" altLang="zh-CN"/>
              <a:t>ACL 2026 </a:t>
            </a:r>
            <a:r>
              <a:rPr lang="zh-CN" altLang="en-US"/>
              <a:t>主会（</a:t>
            </a:r>
            <a:r>
              <a:rPr lang="en-US" altLang="zh-CN"/>
              <a:t>MainConference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102975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ym typeface="+mn-ea"/>
              </a:rPr>
              <a:t>论文 2913</a:t>
            </a:r>
            <a:endParaRPr lang="zh-CN" altLang="en-US" sz="2000" b="1">
              <a:sym typeface="+mn-ea"/>
            </a:endParaRPr>
          </a:p>
          <a:p>
            <a:endParaRPr lang="zh-CN" altLang="en-US" sz="2000"/>
          </a:p>
          <a:p>
            <a:r>
              <a:rPr lang="zh-CN" altLang="en-US" sz="2000">
                <a:sym typeface="+mn-ea"/>
              </a:rPr>
              <a:t>标题：</a:t>
            </a:r>
            <a:r>
              <a:rPr lang="zh-CN" alt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Born Pragmatic, Trained to Hallucinate? Quantifying the Origins of Contextual Bias in LLMs via the PaCE Benchmark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翻译：《天生语用，训练致幻？通过 PaCE 基准量化大语言模型中上下文偏差的来源》</a:t>
            </a:r>
            <a:endParaRPr lang="zh-CN" altLang="en-US" sz="2000"/>
          </a:p>
          <a:p>
            <a:r>
              <a:rPr lang="zh-CN" altLang="en-US">
                <a:sym typeface="+mn-ea"/>
              </a:rPr>
              <a:t>作者：Ziming Li, Yu Tian, Tian Lan, Jiang Li, Zehua Duo, Guanglai Gao, Xiangdong Su（李子明、田雨、蓝天、李江、多泽华、高光来、苏向东）</a:t>
            </a:r>
            <a:endParaRPr lang="zh-CN" altLang="en-US"/>
          </a:p>
          <a:p>
            <a:r>
              <a:rPr lang="zh-CN" altLang="en-US">
                <a:sym typeface="+mn-ea"/>
              </a:rPr>
              <a:t>收录轨道：ACL 2026 Findings</a:t>
            </a:r>
            <a:endParaRPr lang="zh-CN" altLang="en-US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/>
          </a:p>
          <a:p>
            <a:r>
              <a:rPr lang="zh-CN" altLang="en-US" sz="2000" b="1">
                <a:sym typeface="+mn-ea"/>
              </a:rPr>
              <a:t>论文 3234</a:t>
            </a:r>
            <a:endParaRPr lang="zh-CN" altLang="en-US" sz="2000" b="1">
              <a:sym typeface="+mn-ea"/>
            </a:endParaRPr>
          </a:p>
          <a:p>
            <a:endParaRPr lang="zh-CN" altLang="en-US" sz="2000"/>
          </a:p>
          <a:p>
            <a:r>
              <a:rPr lang="zh-CN" altLang="en-US" sz="2000">
                <a:sym typeface="+mn-ea"/>
              </a:rPr>
              <a:t>标题：</a:t>
            </a:r>
            <a:r>
              <a:rPr lang="zh-CN" alt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ToMELP: A Theory-of-Mind Benchmark for Route-Controlled Persuasion under the Elaboration Likelihood Model</a:t>
            </a:r>
            <a:endParaRPr lang="zh-CN" altLang="en-US" sz="2000"/>
          </a:p>
          <a:p>
            <a:r>
              <a:rPr lang="zh-CN" altLang="en-US">
                <a:sym typeface="+mn-ea"/>
              </a:rPr>
              <a:t>翻译：《ToMELP：基于精细加工可能性模型的、路径可控的说服任务心理理论基准》</a:t>
            </a:r>
            <a:endParaRPr lang="zh-CN" altLang="en-US"/>
          </a:p>
          <a:p>
            <a:r>
              <a:rPr lang="zh-CN" altLang="en-US">
                <a:sym typeface="+mn-ea"/>
              </a:rPr>
              <a:t>作者：Ruirui Wang, Haoran Zhang, Tian Lan, Zehua Duo, Jiang Li, Guanglai Gao, Xiangdong Su（王瑞瑞、张浩然、蓝天、多泽华、李江、高光来、苏向东）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收录轨道：ACL 2026 Findings</a:t>
            </a:r>
            <a:endParaRPr lang="zh-CN" altLang="en-US">
              <a:sym typeface="+mn-ea"/>
            </a:endParaRP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102975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CausalityCheck: A Framework for Evaluating Causal Reasoning in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60132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一、核心定位与研究背景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这篇是</a:t>
            </a:r>
            <a:r>
              <a:rPr lang="en-US" altLang="zh-CN"/>
              <a:t> ACL 2026 Findings </a:t>
            </a:r>
            <a:r>
              <a:rPr lang="zh-CN" altLang="en-US"/>
              <a:t>收录的、</a:t>
            </a:r>
            <a:r>
              <a:rPr lang="zh-CN" altLang="en-US">
                <a:solidFill>
                  <a:srgbClr val="FF0000"/>
                </a:solidFill>
              </a:rPr>
              <a:t>面向大语言模型（</a:t>
            </a:r>
            <a:r>
              <a:rPr lang="en-US" altLang="zh-CN">
                <a:solidFill>
                  <a:srgbClr val="FF0000"/>
                </a:solidFill>
              </a:rPr>
              <a:t>LLM</a:t>
            </a:r>
            <a:r>
              <a:rPr lang="zh-CN" altLang="en-US">
                <a:solidFill>
                  <a:srgbClr val="FF0000"/>
                </a:solidFill>
              </a:rPr>
              <a:t>）因果推理能力的系统性评测研究</a:t>
            </a:r>
            <a:r>
              <a:rPr lang="zh-CN" altLang="en-US"/>
              <a:t>，核心解决的行业痛点是：当前</a:t>
            </a:r>
            <a:r>
              <a:rPr lang="en-US" altLang="zh-CN"/>
              <a:t> LLM </a:t>
            </a:r>
            <a:r>
              <a:rPr lang="zh-CN" altLang="en-US"/>
              <a:t>在因果任务上的</a:t>
            </a:r>
            <a:r>
              <a:rPr lang="en-US" altLang="zh-CN"/>
              <a:t> “</a:t>
            </a:r>
            <a:r>
              <a:rPr lang="zh-CN" altLang="en-US"/>
              <a:t>正确回答</a:t>
            </a:r>
            <a:r>
              <a:rPr lang="en-US" altLang="zh-CN"/>
              <a:t>”</a:t>
            </a:r>
            <a:r>
              <a:rPr lang="zh-CN" altLang="en-US"/>
              <a:t>，大多来自预训练语料的统计记忆与关联拟合，而非真正理解并掌握了因果推理的底层逻辑；同时现有评测体系碎片化、有偏、无法区分</a:t>
            </a:r>
            <a:r>
              <a:rPr lang="en-US" altLang="zh-CN"/>
              <a:t> “</a:t>
            </a:r>
            <a:r>
              <a:rPr lang="zh-CN" altLang="en-US"/>
              <a:t>记忆</a:t>
            </a:r>
            <a:r>
              <a:rPr lang="en-US" altLang="zh-CN"/>
              <a:t>” </a:t>
            </a:r>
            <a:r>
              <a:rPr lang="zh-CN" altLang="en-US"/>
              <a:t>与</a:t>
            </a:r>
            <a:r>
              <a:rPr lang="en-US" altLang="zh-CN"/>
              <a:t> “</a:t>
            </a:r>
            <a:r>
              <a:rPr lang="zh-CN" altLang="en-US"/>
              <a:t>真推理</a:t>
            </a:r>
            <a:r>
              <a:rPr lang="en-US" altLang="zh-CN"/>
              <a:t>”</a:t>
            </a:r>
            <a:r>
              <a:rPr lang="zh-CN" altLang="en-US"/>
              <a:t>，无法定位</a:t>
            </a:r>
            <a:r>
              <a:rPr lang="en-US" altLang="zh-CN"/>
              <a:t> LLM </a:t>
            </a:r>
            <a:r>
              <a:rPr lang="zh-CN" altLang="en-US"/>
              <a:t>因果能力的核心短板。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例：</a:t>
            </a:r>
            <a:r>
              <a:rPr lang="en-US" altLang="zh-CN"/>
              <a:t>LLM </a:t>
            </a:r>
            <a:r>
              <a:rPr lang="zh-CN" altLang="en-US"/>
              <a:t>在海量文本里见过无数次：</a:t>
            </a:r>
            <a:r>
              <a:rPr lang="en-US" altLang="zh-CN"/>
              <a:t>“</a:t>
            </a:r>
            <a:r>
              <a:rPr lang="zh-CN" altLang="en-US"/>
              <a:t>下雨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地面湿</a:t>
            </a:r>
            <a:r>
              <a:rPr lang="en-US" altLang="zh-CN"/>
              <a:t>”     “</a:t>
            </a:r>
            <a:r>
              <a:rPr lang="zh-CN" altLang="en-US"/>
              <a:t>抽烟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肺癌</a:t>
            </a:r>
            <a:r>
              <a:rPr lang="en-US" altLang="zh-CN"/>
              <a:t>”     “</a:t>
            </a:r>
            <a:r>
              <a:rPr lang="zh-CN" altLang="en-US"/>
              <a:t>努力学习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考高分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/>
              <a:t>它把这些句子配对、出现频率记下来了。你问它：</a:t>
            </a:r>
            <a:r>
              <a:rPr lang="en-US" altLang="zh-CN"/>
              <a:t>“</a:t>
            </a:r>
            <a:r>
              <a:rPr lang="zh-CN" altLang="en-US"/>
              <a:t>为什么地面湿了？</a:t>
            </a:r>
            <a:r>
              <a:rPr lang="en-US" altLang="zh-CN"/>
              <a:t>”</a:t>
            </a:r>
            <a:r>
              <a:rPr lang="zh-CN" altLang="en-US"/>
              <a:t>它答：</a:t>
            </a:r>
            <a:r>
              <a:rPr lang="en-US" altLang="zh-CN"/>
              <a:t>“</a:t>
            </a:r>
            <a:r>
              <a:rPr lang="zh-CN" altLang="en-US"/>
              <a:t>因为下雨。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/>
              <a:t>它不是推理出来的，只是检索</a:t>
            </a:r>
            <a:r>
              <a:rPr lang="en-US" altLang="zh-CN"/>
              <a:t> + </a:t>
            </a:r>
            <a:r>
              <a:rPr lang="zh-CN" altLang="en-US"/>
              <a:t>复述了语料里最常见的答案。</a:t>
            </a:r>
            <a:endParaRPr lang="zh-CN" altLang="en-US"/>
          </a:p>
          <a:p>
            <a:r>
              <a:rPr lang="zh-CN" altLang="en-US"/>
              <a:t>比如数据里：</a:t>
            </a:r>
            <a:r>
              <a:rPr lang="en-US" altLang="zh-CN"/>
              <a:t>     </a:t>
            </a:r>
            <a:r>
              <a:rPr lang="zh-CN" altLang="en-US"/>
              <a:t>冰淇淋卖得多</a:t>
            </a:r>
            <a:r>
              <a:rPr lang="en-US" altLang="zh-CN"/>
              <a:t>      </a:t>
            </a:r>
            <a:r>
              <a:rPr lang="zh-CN" altLang="en-US"/>
              <a:t>溺水事故变多</a:t>
            </a:r>
            <a:endParaRPr lang="zh-CN" altLang="en-US"/>
          </a:p>
          <a:p>
            <a:r>
              <a:rPr lang="en-US" altLang="zh-CN"/>
              <a:t>LLM </a:t>
            </a:r>
            <a:r>
              <a:rPr lang="zh-CN" altLang="en-US"/>
              <a:t>发现这两个高度相关，就会得出：</a:t>
            </a:r>
            <a:r>
              <a:rPr lang="en-US" altLang="zh-CN"/>
              <a:t>“</a:t>
            </a:r>
            <a:r>
              <a:rPr lang="zh-CN" altLang="en-US"/>
              <a:t>吃冰淇淋导致溺水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/>
              <a:t>真正原因是天气热，热了大家才吃冰淇淋、才去游泳，才会溺水</a:t>
            </a:r>
            <a:endParaRPr lang="zh-CN" altLang="en-US"/>
          </a:p>
          <a:p>
            <a:r>
              <a:rPr lang="zh-CN" altLang="en-US"/>
              <a:t>真正的因果推理：</a:t>
            </a:r>
            <a:endParaRPr lang="zh-CN" altLang="en-US"/>
          </a:p>
          <a:p>
            <a:pPr indent="457200"/>
            <a:r>
              <a:rPr lang="en-US" altLang="zh-CN"/>
              <a:t>1.</a:t>
            </a:r>
            <a:r>
              <a:rPr lang="zh-CN" altLang="en-US"/>
              <a:t>知道因果方向：下雨</a:t>
            </a:r>
            <a:r>
              <a:rPr lang="en-US" altLang="en-US"/>
              <a:t>→</a:t>
            </a:r>
            <a:r>
              <a:rPr lang="zh-CN" altLang="en-US"/>
              <a:t>地湿，不是地湿</a:t>
            </a:r>
            <a:r>
              <a:rPr lang="en-US" altLang="en-US"/>
              <a:t>→</a:t>
            </a:r>
            <a:r>
              <a:rPr lang="zh-CN" altLang="en-US"/>
              <a:t>下雨</a:t>
            </a:r>
            <a:endParaRPr lang="zh-CN" altLang="en-US"/>
          </a:p>
          <a:p>
            <a:pPr indent="457200"/>
            <a:r>
              <a:rPr lang="en-US" altLang="zh-CN"/>
              <a:t>2.</a:t>
            </a:r>
            <a:r>
              <a:rPr lang="zh-CN" altLang="en-US"/>
              <a:t>会干预：如果打伞、遮起来，就算下雨地也不会湿</a:t>
            </a:r>
            <a:endParaRPr lang="zh-CN" altLang="en-US"/>
          </a:p>
          <a:p>
            <a:pPr indent="457200"/>
            <a:r>
              <a:rPr lang="en-US" altLang="zh-CN"/>
              <a:t>3.</a:t>
            </a:r>
            <a:r>
              <a:rPr lang="zh-CN" altLang="en-US"/>
              <a:t>会反事实：如果今天没下雨，但有人洒水，地照样会湿</a:t>
            </a:r>
            <a:endParaRPr lang="zh-CN" altLang="en-US"/>
          </a:p>
          <a:p>
            <a:pPr indent="457200"/>
            <a:r>
              <a:rPr lang="en-US" altLang="zh-CN"/>
              <a:t>4.</a:t>
            </a:r>
            <a:r>
              <a:rPr lang="zh-CN" altLang="en-US"/>
              <a:t>能识别虚假相关：冰淇淋和溺水只是一起出现，不是因果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350625" cy="6136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CausalityCheck: A Framework for Evaluating Causal Reasoning in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6013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二、底层理论基础：</a:t>
            </a:r>
            <a:r>
              <a:rPr lang="en-US" altLang="zh-CN" b="1"/>
              <a:t>Pearl </a:t>
            </a:r>
            <a:r>
              <a:rPr lang="zh-CN" altLang="en-US" b="1"/>
              <a:t>因果阶梯</a:t>
            </a:r>
            <a:endParaRPr lang="zh-CN" altLang="en-US" b="1"/>
          </a:p>
          <a:p>
            <a:r>
              <a:rPr lang="zh-CN" altLang="en-US"/>
              <a:t>论文的核心框架完全基于图灵奖得主朱迪亚</a:t>
            </a:r>
            <a:r>
              <a:rPr lang="ja-JP" altLang="en-US"/>
              <a:t>・</a:t>
            </a:r>
            <a:r>
              <a:rPr lang="zh-CN" altLang="en-US"/>
              <a:t>珀尔（</a:t>
            </a:r>
            <a:r>
              <a:rPr lang="en-US" altLang="zh-CN"/>
              <a:t>Judea Pearl</a:t>
            </a:r>
            <a:r>
              <a:rPr lang="zh-CN" altLang="en-US"/>
              <a:t>）提出的因果阶梯理论（</a:t>
            </a:r>
            <a:r>
              <a:rPr lang="en-US" altLang="zh-CN"/>
              <a:t>Ladder of Causation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构建，这也是因果推理领域的黄金标准，三层阶梯的难度和对</a:t>
            </a:r>
            <a:r>
              <a:rPr lang="en-US" altLang="zh-CN"/>
              <a:t> “</a:t>
            </a:r>
            <a:r>
              <a:rPr lang="zh-CN" altLang="en-US"/>
              <a:t>真因果能力</a:t>
            </a:r>
            <a:r>
              <a:rPr lang="en-US" altLang="zh-CN"/>
              <a:t>” </a:t>
            </a:r>
            <a:r>
              <a:rPr lang="zh-CN" altLang="en-US"/>
              <a:t>的要求逐级提升：</a:t>
            </a:r>
            <a:endParaRPr lang="zh-CN" altLang="en-US" b="1"/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38810" y="2133600"/>
          <a:ext cx="10914380" cy="4288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8595"/>
                <a:gridCol w="2728595"/>
                <a:gridCol w="2728595"/>
                <a:gridCol w="2728595"/>
              </a:tblGrid>
              <a:tr h="5099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核心能力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核心问题范式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与统计关联的本质区别</a:t>
                      </a:r>
                      <a:endParaRPr lang="zh-CN" altLang="en-US"/>
                    </a:p>
                  </a:txBody>
                  <a:tcPr/>
                </a:tc>
              </a:tr>
              <a:tr h="1259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第一层：关联（</a:t>
                      </a:r>
                      <a:r>
                        <a:rPr lang="en-US" altLang="zh-CN"/>
                        <a:t>Association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识别变量间的因果相关性，区分因果与虚假相关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“X </a:t>
                      </a:r>
                      <a:r>
                        <a:rPr lang="zh-CN" altLang="en-US"/>
                        <a:t>和</a:t>
                      </a:r>
                      <a:r>
                        <a:rPr lang="en-US" altLang="zh-CN"/>
                        <a:t> Y </a:t>
                      </a:r>
                      <a:r>
                        <a:rPr lang="zh-CN" altLang="en-US"/>
                        <a:t>之间有没有因果关系？谁是因谁是果？</a:t>
                      </a:r>
                      <a:r>
                        <a:rPr lang="en-US" altLang="zh-CN"/>
                        <a:t>”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仅停留在</a:t>
                      </a:r>
                      <a:r>
                        <a:rPr lang="en-US" altLang="zh-CN"/>
                        <a:t> “</a:t>
                      </a:r>
                      <a:r>
                        <a:rPr lang="zh-CN" altLang="en-US"/>
                        <a:t>观察到的规律</a:t>
                      </a:r>
                      <a:r>
                        <a:rPr lang="en-US" altLang="zh-CN"/>
                        <a:t>”</a:t>
                      </a:r>
                      <a:r>
                        <a:rPr lang="zh-CN" altLang="en-US"/>
                        <a:t>，是传统统计学习的上限</a:t>
                      </a:r>
                      <a:endParaRPr lang="zh-CN" altLang="en-US"/>
                    </a:p>
                  </a:txBody>
                  <a:tcPr/>
                </a:tc>
              </a:tr>
              <a:tr h="12592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第二层：干预（</a:t>
                      </a:r>
                      <a:r>
                        <a:rPr lang="en-US" altLang="zh-CN"/>
                        <a:t>Intervention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基于主动改变变量的行为，推理后续结果，核心是</a:t>
                      </a:r>
                      <a:r>
                        <a:rPr lang="en-US" altLang="zh-CN"/>
                        <a:t> do </a:t>
                      </a:r>
                      <a:r>
                        <a:rPr lang="zh-CN" altLang="en-US"/>
                        <a:t>算子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“</a:t>
                      </a:r>
                      <a:r>
                        <a:rPr lang="zh-CN" altLang="en-US"/>
                        <a:t>如果我主动做了</a:t>
                      </a:r>
                      <a:r>
                        <a:rPr lang="en-US" altLang="zh-CN"/>
                        <a:t> X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Y </a:t>
                      </a:r>
                      <a:r>
                        <a:rPr lang="zh-CN" altLang="en-US"/>
                        <a:t>会发生什么变化？</a:t>
                      </a:r>
                      <a:r>
                        <a:rPr lang="en-US" altLang="zh-CN"/>
                        <a:t>”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突破观察数据的限制，主动消除混淆变量，是</a:t>
                      </a:r>
                      <a:r>
                        <a:rPr lang="en-US" altLang="zh-CN"/>
                        <a:t> “</a:t>
                      </a:r>
                      <a:r>
                        <a:rPr lang="zh-CN" altLang="en-US"/>
                        <a:t>因果</a:t>
                      </a:r>
                      <a:r>
                        <a:rPr lang="en-US" altLang="zh-CN"/>
                        <a:t>” </a:t>
                      </a:r>
                      <a:r>
                        <a:rPr lang="zh-CN" altLang="en-US"/>
                        <a:t>与</a:t>
                      </a:r>
                      <a:r>
                        <a:rPr lang="en-US" altLang="zh-CN"/>
                        <a:t> “</a:t>
                      </a:r>
                      <a:r>
                        <a:rPr lang="zh-CN" altLang="en-US"/>
                        <a:t>相关</a:t>
                      </a:r>
                      <a:r>
                        <a:rPr lang="en-US" altLang="zh-CN"/>
                        <a:t>” </a:t>
                      </a:r>
                      <a:r>
                        <a:rPr lang="zh-CN" altLang="en-US"/>
                        <a:t>的核心分界线</a:t>
                      </a:r>
                      <a:endParaRPr lang="zh-CN" altLang="en-US"/>
                    </a:p>
                  </a:txBody>
                  <a:tcPr/>
                </a:tc>
              </a:tr>
              <a:tr h="12592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第三层：反事实（</a:t>
                      </a:r>
                      <a:r>
                        <a:rPr lang="en-US" altLang="zh-CN"/>
                        <a:t>Counterfactuals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对与现实相反的假设场景进行推理，是人类认知的核心能力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“</a:t>
                      </a:r>
                      <a:r>
                        <a:rPr lang="zh-CN" altLang="en-US"/>
                        <a:t>如果当时我做了</a:t>
                      </a:r>
                      <a:r>
                        <a:rPr lang="en-US" altLang="zh-CN"/>
                        <a:t> X </a:t>
                      </a:r>
                      <a:r>
                        <a:rPr lang="zh-CN" altLang="en-US"/>
                        <a:t>而不是</a:t>
                      </a:r>
                      <a:r>
                        <a:rPr lang="en-US" altLang="zh-CN"/>
                        <a:t> Y</a:t>
                      </a:r>
                      <a:r>
                        <a:rPr lang="zh-CN" altLang="en-US"/>
                        <a:t>，结果会不一样吗？</a:t>
                      </a:r>
                      <a:r>
                        <a:rPr lang="en-US" altLang="zh-CN"/>
                        <a:t>”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完全脱离现有观察数据，必须基于因果机制进行纯逻辑推理，无法通过统计拟合实现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695" y="394970"/>
            <a:ext cx="10998200" cy="401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CausalityCheck: A Framework for Evaluating Causal Reasoning in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6013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三、论文核心动机：</a:t>
            </a:r>
            <a:r>
              <a:rPr lang="zh-CN" altLang="en-US" b="1">
                <a:sym typeface="+mn-ea"/>
              </a:rPr>
              <a:t>现有评测体系的核心缺陷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论文开篇明确了现有</a:t>
            </a:r>
            <a:r>
              <a:rPr lang="en-US" altLang="zh-CN"/>
              <a:t> LLM </a:t>
            </a:r>
            <a:r>
              <a:rPr lang="zh-CN" altLang="en-US"/>
              <a:t>因果推理评测的四大致命问题，也是</a:t>
            </a:r>
            <a:r>
              <a:rPr lang="en-US" altLang="zh-CN"/>
              <a:t> CausalityCheck </a:t>
            </a:r>
            <a:r>
              <a:rPr lang="zh-CN" altLang="en-US"/>
              <a:t>要解决的核心痛点：</a:t>
            </a:r>
            <a:endParaRPr lang="zh-CN" altLang="en-US"/>
          </a:p>
          <a:p>
            <a:pPr indent="457200"/>
            <a:endParaRPr lang="en-US" altLang="zh-CN"/>
          </a:p>
          <a:p>
            <a:pPr indent="457200"/>
            <a:r>
              <a:rPr lang="en-US" altLang="zh-CN"/>
              <a:t>1.</a:t>
            </a:r>
            <a:r>
              <a:rPr lang="zh-CN" altLang="en-US"/>
              <a:t>覆盖不全，碎片化严重：绝大多数评测仅覆盖因果阶梯的</a:t>
            </a:r>
            <a:r>
              <a:rPr lang="en-US" altLang="zh-CN"/>
              <a:t> 1-2 </a:t>
            </a:r>
            <a:r>
              <a:rPr lang="zh-CN" altLang="en-US"/>
              <a:t>个层级，大多只测基础的因果识别，无法对</a:t>
            </a:r>
            <a:r>
              <a:rPr lang="en-US" altLang="zh-CN"/>
              <a:t> LLM </a:t>
            </a:r>
            <a:r>
              <a:rPr lang="zh-CN" altLang="en-US"/>
              <a:t>的完整因果能力进行系统性评估。</a:t>
            </a:r>
            <a:endParaRPr lang="zh-CN" altLang="en-US"/>
          </a:p>
          <a:p>
            <a:pPr indent="457200"/>
            <a:r>
              <a:rPr lang="en-US" altLang="zh-CN"/>
              <a:t>2.</a:t>
            </a:r>
            <a:r>
              <a:rPr lang="zh-CN" altLang="en-US"/>
              <a:t>无法区分</a:t>
            </a:r>
            <a:r>
              <a:rPr lang="en-US" altLang="zh-CN"/>
              <a:t> “</a:t>
            </a:r>
            <a:r>
              <a:rPr lang="zh-CN" altLang="en-US"/>
              <a:t>记忆</a:t>
            </a:r>
            <a:r>
              <a:rPr lang="en-US" altLang="zh-CN"/>
              <a:t>” </a:t>
            </a:r>
            <a:r>
              <a:rPr lang="zh-CN" altLang="en-US"/>
              <a:t>与</a:t>
            </a:r>
            <a:r>
              <a:rPr lang="en-US" altLang="zh-CN"/>
              <a:t> “</a:t>
            </a:r>
            <a:r>
              <a:rPr lang="zh-CN" altLang="en-US"/>
              <a:t>推理</a:t>
            </a:r>
            <a:r>
              <a:rPr lang="en-US" altLang="zh-CN"/>
              <a:t>”</a:t>
            </a:r>
            <a:r>
              <a:rPr lang="zh-CN" altLang="en-US"/>
              <a:t>：评测数据集多为英文常识性因果案例，几乎都存在于</a:t>
            </a:r>
            <a:r>
              <a:rPr lang="en-US" altLang="zh-CN"/>
              <a:t> LLM </a:t>
            </a:r>
            <a:r>
              <a:rPr lang="zh-CN" altLang="en-US"/>
              <a:t>的预训练语料中，</a:t>
            </a:r>
            <a:r>
              <a:rPr lang="en-US" altLang="zh-CN"/>
              <a:t>LLM </a:t>
            </a:r>
            <a:r>
              <a:rPr lang="zh-CN" altLang="en-US"/>
              <a:t>答对靠的是记忆，而非真正的因果推理能力。</a:t>
            </a:r>
            <a:endParaRPr lang="zh-CN" altLang="en-US"/>
          </a:p>
          <a:p>
            <a:pPr indent="457200"/>
            <a:r>
              <a:rPr lang="en-US" altLang="zh-CN"/>
              <a:t>3.</a:t>
            </a:r>
            <a:r>
              <a:rPr lang="zh-CN" altLang="en-US"/>
              <a:t>缺乏可定位性：仅输出整体准确率，无法拆解</a:t>
            </a:r>
            <a:r>
              <a:rPr lang="en-US" altLang="zh-CN"/>
              <a:t> LLM </a:t>
            </a:r>
            <a:r>
              <a:rPr lang="zh-CN" altLang="en-US"/>
              <a:t>在因果推理的哪个环节（如混淆变量识别、干预计算、反事实归因）出现了缺陷，无法为模型优化提供指导。</a:t>
            </a:r>
            <a:endParaRPr lang="zh-CN" altLang="en-US"/>
          </a:p>
          <a:p>
            <a:pPr indent="457200"/>
            <a:r>
              <a:rPr lang="en-US" altLang="zh-CN"/>
              <a:t>4.</a:t>
            </a:r>
            <a:r>
              <a:rPr lang="zh-CN" altLang="en-US"/>
              <a:t>中文场景严重缺失：主流评测均为英文构建，针对中文</a:t>
            </a:r>
            <a:r>
              <a:rPr lang="en-US" altLang="zh-CN"/>
              <a:t> LLM </a:t>
            </a:r>
            <a:r>
              <a:rPr lang="zh-CN" altLang="en-US"/>
              <a:t>的因果推理能力评测几乎空白，无法适配国产大模型的本土化优化需求。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695" y="394970"/>
            <a:ext cx="10998200" cy="401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CausalityCheck: A Framework for Evaluating Causal Reasoning in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6013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四、</a:t>
            </a:r>
            <a:r>
              <a:rPr lang="en-US" altLang="zh-CN" b="1"/>
              <a:t>CausalityCheck </a:t>
            </a:r>
            <a:r>
              <a:rPr lang="zh-CN" altLang="en-US" b="1"/>
              <a:t>框架核心设计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论文的核心创新是构建了覆盖完整因果三层阶梯、去记忆化、可拆解、多难度分级、支持中英双语的</a:t>
            </a:r>
            <a:r>
              <a:rPr lang="en-US" altLang="zh-CN"/>
              <a:t> LLM </a:t>
            </a:r>
            <a:r>
              <a:rPr lang="zh-CN" altLang="en-US"/>
              <a:t>因果推理评测框架，整体设计完全围绕</a:t>
            </a:r>
            <a:r>
              <a:rPr lang="en-US" altLang="zh-CN"/>
              <a:t> “</a:t>
            </a:r>
            <a:r>
              <a:rPr lang="zh-CN" altLang="en-US"/>
              <a:t>测真推理、而非测记忆</a:t>
            </a:r>
            <a:r>
              <a:rPr lang="en-US" altLang="zh-CN"/>
              <a:t>” </a:t>
            </a:r>
            <a:r>
              <a:rPr lang="zh-CN" altLang="en-US"/>
              <a:t>的核心原则。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14375" y="2184400"/>
          <a:ext cx="10765790" cy="425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485"/>
                <a:gridCol w="2853690"/>
                <a:gridCol w="2072005"/>
                <a:gridCol w="3991610"/>
              </a:tblGrid>
              <a:tr h="4883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子任务设计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评测目标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难度设计核心</a:t>
                      </a:r>
                      <a:endParaRPr lang="zh-CN" altLang="en-US"/>
                    </a:p>
                  </a:txBody>
                  <a:tcPr/>
                </a:tc>
              </a:tr>
              <a:tr h="12115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模块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1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：因果关联识别（对应阶梯第一层）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1.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因果方向判断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2.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虚假相关与混淆变量识别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3.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辛普森悖论识别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4.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因果有向无环图（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DAG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）构建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评估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LLM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最基础的因果感知能力，能否从相关关系中筛选出真正的因果关系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简单级：常识性因果对（如吸烟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uFillTx/>
                        </a:rPr>
                        <a:t>→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肺癌）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中等级：含单一混淆变量的场景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困难级：辛普森悖论、多混淆变量的复杂因果场景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  <a:tr h="12788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模块</a:t>
                      </a:r>
                      <a:r>
                        <a:rPr lang="en-US" altLang="zh-CN" sz="1400"/>
                        <a:t> 2</a:t>
                      </a:r>
                      <a:r>
                        <a:rPr lang="zh-CN" altLang="en-US" sz="1400"/>
                        <a:t>：因果干预推理（对应阶梯第二层）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1. </a:t>
                      </a:r>
                      <a:r>
                        <a:rPr lang="zh-CN" altLang="en-US" sz="1400"/>
                        <a:t>后门准则与因果效应计算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2. </a:t>
                      </a:r>
                      <a:r>
                        <a:rPr lang="zh-CN" altLang="en-US" sz="1400"/>
                        <a:t>干预效果预测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3. </a:t>
                      </a:r>
                      <a:r>
                        <a:rPr lang="zh-CN" altLang="en-US" sz="1400"/>
                        <a:t>中介效应拆解（总效应</a:t>
                      </a:r>
                      <a:r>
                        <a:rPr lang="en-US" altLang="zh-CN" sz="1400"/>
                        <a:t> / </a:t>
                      </a:r>
                      <a:r>
                        <a:rPr lang="zh-CN" altLang="en-US" sz="1400"/>
                        <a:t>直接效应</a:t>
                      </a:r>
                      <a:r>
                        <a:rPr lang="en-US" altLang="zh-CN" sz="1400"/>
                        <a:t> / </a:t>
                      </a:r>
                      <a:r>
                        <a:rPr lang="zh-CN" altLang="en-US" sz="1400"/>
                        <a:t>间接效应）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4. </a:t>
                      </a:r>
                      <a:r>
                        <a:rPr lang="zh-CN" altLang="en-US" sz="1400"/>
                        <a:t>多变量干预决策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评估</a:t>
                      </a:r>
                      <a:r>
                        <a:rPr lang="en-US" altLang="zh-CN" sz="1400"/>
                        <a:t> LLM </a:t>
                      </a:r>
                      <a:r>
                        <a:rPr lang="zh-CN" altLang="en-US" sz="1400"/>
                        <a:t>能否突破观察数据的限制，通过</a:t>
                      </a:r>
                      <a:r>
                        <a:rPr lang="en-US" altLang="zh-CN" sz="1400"/>
                        <a:t> do </a:t>
                      </a:r>
                      <a:r>
                        <a:rPr lang="zh-CN" altLang="en-US" sz="1400"/>
                        <a:t>算子进行主动干预推理，这是因果能力的核心门槛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简单级：单变量无混淆的干预场景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中等级：需控制单一混淆变量的后门调整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困难级：多混淆变量、含中介</a:t>
                      </a:r>
                      <a:r>
                        <a:rPr lang="en-US" altLang="zh-CN" sz="1400"/>
                        <a:t> / </a:t>
                      </a:r>
                      <a:r>
                        <a:rPr lang="zh-CN" altLang="en-US" sz="1400"/>
                        <a:t>碰撞变量的复杂干预计算</a:t>
                      </a:r>
                      <a:endParaRPr lang="zh-CN" altLang="en-US" sz="1400"/>
                    </a:p>
                  </a:txBody>
                  <a:tcPr/>
                </a:tc>
              </a:tr>
              <a:tr h="12782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模块</a:t>
                      </a:r>
                      <a:r>
                        <a:rPr lang="en-US" altLang="zh-CN" sz="1400"/>
                        <a:t> 3</a:t>
                      </a:r>
                      <a:r>
                        <a:rPr lang="zh-CN" altLang="en-US" sz="1400"/>
                        <a:t>：反事实推理（对应阶梯第三层）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1. </a:t>
                      </a:r>
                      <a:r>
                        <a:rPr lang="zh-CN" altLang="en-US" sz="1400"/>
                        <a:t>必要因与充分因判断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2. </a:t>
                      </a:r>
                      <a:r>
                        <a:rPr lang="zh-CN" altLang="en-US" sz="1400"/>
                        <a:t>单变量反事实场景推理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3. </a:t>
                      </a:r>
                      <a:r>
                        <a:rPr lang="zh-CN" altLang="en-US" sz="1400"/>
                        <a:t>多变量联合反事实推理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4. </a:t>
                      </a:r>
                      <a:r>
                        <a:rPr lang="zh-CN" altLang="en-US" sz="1400"/>
                        <a:t>异常事件反事实归因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评估</a:t>
                      </a:r>
                      <a:r>
                        <a:rPr lang="en-US" altLang="zh-CN" sz="1400"/>
                        <a:t> LLM </a:t>
                      </a:r>
                      <a:r>
                        <a:rPr lang="zh-CN" altLang="en-US" sz="1400"/>
                        <a:t>最高阶的因果推理能力，完全脱离观察数据，基于因果机制进行假设性推理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简单级：常识性单变量反事实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中等级：多变量反事实场景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困难级：完全虚构、预训练语料中不存在的分布外反事实场景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695" y="394970"/>
            <a:ext cx="10998200" cy="295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CausalityCheck: A Framework for Evaluating Causal Reasoning in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6013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四、</a:t>
            </a:r>
            <a:r>
              <a:rPr lang="en-US" altLang="zh-CN" b="1">
                <a:sym typeface="+mn-ea"/>
              </a:rPr>
              <a:t>CausalityCheck </a:t>
            </a:r>
            <a:r>
              <a:rPr lang="zh-CN" altLang="en-US" b="1">
                <a:sym typeface="+mn-ea"/>
              </a:rPr>
              <a:t>框架核心设计</a:t>
            </a:r>
            <a:endParaRPr lang="zh-CN" altLang="en-US" b="1"/>
          </a:p>
          <a:p>
            <a:endParaRPr lang="zh-CN" altLang="en-US"/>
          </a:p>
          <a:p>
            <a:r>
              <a:rPr lang="zh-CN" altLang="en-US" b="1"/>
              <a:t>论文核心</a:t>
            </a:r>
            <a:r>
              <a:rPr lang="zh-CN" altLang="en-US"/>
              <a:t>：</a:t>
            </a:r>
            <a:r>
              <a:rPr lang="en-US" altLang="zh-CN">
                <a:solidFill>
                  <a:schemeClr val="tx1"/>
                </a:solidFill>
              </a:rPr>
              <a:t>Pearl </a:t>
            </a:r>
            <a:r>
              <a:rPr lang="zh-CN" altLang="en-US">
                <a:solidFill>
                  <a:schemeClr val="tx1"/>
                </a:solidFill>
              </a:rPr>
              <a:t>提出的因果阶梯，是人类因果思维的三个难度等级：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看相关性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→</a:t>
            </a:r>
            <a:r>
              <a:rPr lang="en-US" altLang="zh-CN">
                <a:solidFill>
                  <a:schemeClr val="tx1"/>
                </a:solidFill>
              </a:rPr>
              <a:t> 2. </a:t>
            </a:r>
            <a:r>
              <a:rPr lang="zh-CN" altLang="en-US">
                <a:solidFill>
                  <a:schemeClr val="tx1"/>
                </a:solidFill>
              </a:rPr>
              <a:t>主动做干预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→</a:t>
            </a:r>
            <a:r>
              <a:rPr lang="en-US" altLang="zh-CN">
                <a:solidFill>
                  <a:schemeClr val="tx1"/>
                </a:solidFill>
              </a:rPr>
              <a:t> 3. </a:t>
            </a:r>
            <a:r>
              <a:rPr lang="zh-CN" altLang="en-US">
                <a:solidFill>
                  <a:schemeClr val="tx1"/>
                </a:solidFill>
              </a:rPr>
              <a:t>脑补反事实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论文就照着这个阶梯，设计了三大测试模块，每个模块再拆成具体考题，还分简单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中等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困难，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目的就是：不笼统打分，而是拆解开，看模型到底是</a:t>
            </a: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chemeClr val="tx1"/>
                </a:solidFill>
              </a:rPr>
              <a:t>基础因果都不懂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，还是</a:t>
            </a: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chemeClr val="tx1"/>
                </a:solidFill>
              </a:rPr>
              <a:t>只会简单题，一复杂就废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论文按照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“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因果推理的难度阶梯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，给大模型出了一套「分层级、分题型、分难度」的标准化因果考试题，精准测出它到底哪一步会崩。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) 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zh-CN" altLang="en-US" b="1">
              <a:solidFill>
                <a:schemeClr val="tx1"/>
              </a:solidFill>
              <a:sym typeface="+mn-ea"/>
            </a:endParaRPr>
          </a:p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五、核心实验结论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(1)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所有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LLM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的因果能力随因果阶梯逐级断崖式下降所有模型的性能均严格遵循：因果关联识别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&gt;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因果干预推理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&gt;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反事实推理。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(2)LLM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的因果能力核心来自记忆，而非真正的推理这是论文最核心的发现：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所有模型在常识性、预训练语料中存在的因果任务上，准确率普遍超过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80%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；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但在完全构造的分布外（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OOD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）任务上，准确率平均下降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40%-60%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，哪怕是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GPT-4o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，准确率也下降了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35%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以上；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(3)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闭源模型与开源模型存在代际差距，单纯堆参数量无法解决因果能力缺陷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(4)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LLM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的因果能力显著落后于英文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 Your Place: Diagnosing Implicit Social Adaptation Failures in Chinese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一、核心定位与研究背景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这篇论文是</a:t>
            </a:r>
            <a:r>
              <a:rPr lang="zh-CN" altLang="en-US">
                <a:solidFill>
                  <a:srgbClr val="FF0000"/>
                </a:solidFill>
              </a:rPr>
              <a:t>聚焦中文大语言模型社会适应性评测的开创性研究</a:t>
            </a:r>
            <a:r>
              <a:rPr lang="zh-CN" altLang="en-US"/>
              <a:t>，核心解决的行业痛点是：当前中文</a:t>
            </a:r>
            <a:r>
              <a:rPr lang="en-US" altLang="zh-CN"/>
              <a:t> LLM </a:t>
            </a:r>
            <a:r>
              <a:rPr lang="zh-CN" altLang="en-US"/>
              <a:t>在社交互动中普遍存在隐性社会适应失败</a:t>
            </a:r>
            <a:r>
              <a:rPr lang="en-US" altLang="zh-CN"/>
              <a:t>—— </a:t>
            </a:r>
            <a:r>
              <a:rPr lang="zh-CN" altLang="en-US"/>
              <a:t>即</a:t>
            </a:r>
            <a:r>
              <a:rPr lang="zh-CN" altLang="en-US">
                <a:solidFill>
                  <a:srgbClr val="FF0000"/>
                </a:solidFill>
              </a:rPr>
              <a:t>无法正确理解并遵循中国社会特有的层级关系、礼仪规范和角色期望</a:t>
            </a:r>
            <a:r>
              <a:rPr lang="zh-CN" altLang="en-US"/>
              <a:t>，导致输出内容看似合理，实则违背社会常识或文化规范，影响人机交互的自然性与安全性。</a:t>
            </a:r>
            <a:endParaRPr lang="zh-CN" altLang="en-US"/>
          </a:p>
          <a:p>
            <a:r>
              <a:rPr lang="zh-CN" altLang="en-US"/>
              <a:t>论文指出：当前中文</a:t>
            </a:r>
            <a:r>
              <a:rPr lang="en-US" altLang="zh-CN"/>
              <a:t> LLM </a:t>
            </a:r>
            <a:r>
              <a:rPr lang="zh-CN" altLang="en-US"/>
              <a:t>的训练多聚焦于语言能力和事实准确性，却忽视了对这些社会文化核心要素的学习，导致在复杂社交场景中频繁出现适应失败。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现有评测体系的核心缺陷</a:t>
            </a:r>
            <a:endParaRPr lang="zh-CN" altLang="en-US"/>
          </a:p>
          <a:p>
            <a:r>
              <a:rPr lang="zh-CN" altLang="en-US"/>
              <a:t>社会适应评测严重缺失：主流</a:t>
            </a:r>
            <a:r>
              <a:rPr lang="en-US" altLang="zh-CN"/>
              <a:t> LLM </a:t>
            </a:r>
            <a:r>
              <a:rPr lang="zh-CN" altLang="en-US"/>
              <a:t>评测集中于语言能力、推理能力和安全性，几乎没有针对中文社会特有的层级关系和礼仪规范的专项评测。</a:t>
            </a:r>
            <a:endParaRPr lang="zh-CN" altLang="en-US"/>
          </a:p>
          <a:p>
            <a:r>
              <a:rPr lang="zh-CN" altLang="en-US"/>
              <a:t>无法捕捉</a:t>
            </a:r>
            <a:r>
              <a:rPr lang="en-US" altLang="zh-CN"/>
              <a:t> “</a:t>
            </a:r>
            <a:r>
              <a:rPr lang="zh-CN" altLang="en-US"/>
              <a:t>隐性失败</a:t>
            </a:r>
            <a:r>
              <a:rPr lang="en-US" altLang="zh-CN"/>
              <a:t>”</a:t>
            </a:r>
            <a:r>
              <a:rPr lang="zh-CN" altLang="en-US"/>
              <a:t>：现有社交评测多关注显式偏见（如性别歧视、种族歧视），而中文社会中的适应失败往往是隐性的</a:t>
            </a:r>
            <a:r>
              <a:rPr lang="en-US" altLang="zh-CN"/>
              <a:t> —— </a:t>
            </a:r>
            <a:r>
              <a:rPr lang="zh-CN" altLang="en-US"/>
              <a:t>如对长辈语气不敬、对上级过于随意、对平辈过于客套等，这些难以被传统评测体系发现。</a:t>
            </a:r>
            <a:endParaRPr lang="zh-CN" altLang="en-US"/>
          </a:p>
          <a:p>
            <a:r>
              <a:rPr lang="zh-CN" altLang="en-US"/>
              <a:t>缺乏文化特异性：西方评测体系基于个人主义文化，无法适配中国集体主义文化下的社会互动规范，导致评测结果与中文用户的实际体验脱节。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 Your Place: Diagnosing Implicit Social Adaptation Failures in Chinese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二、</a:t>
            </a:r>
            <a:r>
              <a:rPr lang="en-US" altLang="zh-CN" b="1"/>
              <a:t>Know Your Place </a:t>
            </a:r>
            <a:r>
              <a:rPr lang="zh-CN" altLang="en-US" b="1"/>
              <a:t>框架核心设计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论文的核心创新是</a:t>
            </a:r>
            <a:r>
              <a:rPr lang="zh-CN" altLang="en-US">
                <a:solidFill>
                  <a:srgbClr val="FF0000"/>
                </a:solidFill>
              </a:rPr>
              <a:t>构建了覆盖完整中文社会层级、可捕捉隐性适应失败、多场景多难度分级的中文</a:t>
            </a:r>
            <a:r>
              <a:rPr lang="en-US" altLang="zh-CN">
                <a:solidFill>
                  <a:srgbClr val="FF0000"/>
                </a:solidFill>
              </a:rPr>
              <a:t> LLM </a:t>
            </a:r>
            <a:r>
              <a:rPr lang="zh-CN" altLang="en-US">
                <a:solidFill>
                  <a:srgbClr val="FF0000"/>
                </a:solidFill>
              </a:rPr>
              <a:t>社会适应性评测框架</a:t>
            </a:r>
            <a:r>
              <a:rPr lang="zh-CN" altLang="en-US"/>
              <a:t>，整体设计完全围绕</a:t>
            </a:r>
            <a:r>
              <a:rPr lang="en-US" altLang="zh-CN"/>
              <a:t> “</a:t>
            </a:r>
            <a:r>
              <a:rPr lang="zh-CN" altLang="en-US"/>
              <a:t>测真适应、而非测表面礼貌</a:t>
            </a:r>
            <a:r>
              <a:rPr lang="en-US" altLang="zh-CN"/>
              <a:t>” </a:t>
            </a:r>
            <a:r>
              <a:rPr lang="zh-CN" altLang="en-US"/>
              <a:t>的核心原则。框架分为三大核心评测维度，每个维度下设计了多类子任务，同时每个子任务都分为简单、中等、困难三个难度等级，实现对中文</a:t>
            </a:r>
            <a:r>
              <a:rPr lang="en-US" altLang="zh-CN"/>
              <a:t> LLM </a:t>
            </a:r>
            <a:r>
              <a:rPr lang="zh-CN" altLang="en-US"/>
              <a:t>社会适应能力的精细化拆解评估。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4535" y="2743835"/>
          <a:ext cx="10939780" cy="379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670"/>
                <a:gridCol w="2491105"/>
                <a:gridCol w="2068830"/>
                <a:gridCol w="4956175"/>
              </a:tblGrid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子任务设计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评测目标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难度设计核心</a:t>
                      </a:r>
                      <a:endParaRPr lang="zh-CN" altLang="en-US"/>
                    </a:p>
                  </a:txBody>
                  <a:tcPr/>
                </a:tc>
              </a:tr>
              <a:tr h="11677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社会角色识别与定位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1.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关系类型判断（如亲属、职场、师生）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2.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权力距离感知（如上下级、长幼）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3.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社交场合正式度判断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评估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LLM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最基础的社会感知能力，能否正确识别互动双方的关系与权力结构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简单级：明确标注的关系（如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“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父亲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-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儿子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”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对话）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中等级：隐含关系线索的场景（如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“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经理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-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实习生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”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邮件）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困难级：模糊关系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+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复杂场合（如跨部门会议中的临时协作）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  <a:tr h="11671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语言风格与礼仪适配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1.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敬语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/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谦语使用正确性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2.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语气强度适配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3.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话题选择恰当性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4.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反馈方式适配（如赞同、反对、建议）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评估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LLM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能否根据关系和场合选择合适的语言风格和礼仪，避免隐性冒犯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简单级：单一关系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+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明确场合（如对老师用敬语）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中等级：多重关系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+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混合场合（如家庭聚会中同时与长辈和同辈交流）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困难级：动态变化的关系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+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正式场合（如商务谈判中从合作到竞争的语气转换）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  <a:tr h="1087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社交行为与决策适配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1.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行为建议合理性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2.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礼物选择恰当性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3.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座位安排建议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4.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社交事件参与决策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评估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LLM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能否在复杂社交决策中遵循中文社会规范，给出符合角色期望的建议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简单级：常识性社交决策（如给长辈拜年）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中等级：含冲突的社交决策（如拒绝长辈的不合理要求）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困难级：涉及多方利益的复杂社交决策（如职场中平衡上级和同事的需求）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 Your Place: Diagnosing Implicit Social Adaptation Failures in Chinese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三、核心创新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隐性失败捕捉机制：论文设计了社会适应失败标注体系，将中文社会中的隐性适应失败分为</a:t>
            </a:r>
            <a:r>
              <a:rPr lang="en-US" altLang="zh-CN"/>
              <a:t> 5 </a:t>
            </a:r>
            <a:r>
              <a:rPr lang="zh-CN" altLang="en-US"/>
              <a:t>大类</a:t>
            </a:r>
            <a:r>
              <a:rPr lang="en-US" altLang="zh-CN"/>
              <a:t> 23 </a:t>
            </a:r>
            <a:r>
              <a:rPr lang="zh-CN" altLang="en-US"/>
              <a:t>小例如：</a:t>
            </a:r>
            <a:r>
              <a:rPr lang="en-US" altLang="zh-CN"/>
              <a:t> </a:t>
            </a:r>
            <a:r>
              <a:rPr lang="zh-CN" altLang="en-US"/>
              <a:t>类权力距离适配失败（对上级语气过于随意、对下级过于严厉）</a:t>
            </a:r>
            <a:endParaRPr lang="zh-CN" altLang="en-US"/>
          </a:p>
          <a:p>
            <a:pPr indent="457200"/>
            <a:r>
              <a:rPr lang="zh-CN" altLang="en-US"/>
              <a:t> </a:t>
            </a:r>
            <a:r>
              <a:rPr lang="en-US" altLang="zh-CN"/>
              <a:t>    </a:t>
            </a:r>
            <a:r>
              <a:rPr lang="zh-CN" altLang="en-US"/>
              <a:t>关系亲疏适配失败（对陌生人过于热情、对亲友过于冷淡）</a:t>
            </a:r>
            <a:endParaRPr lang="zh-CN" altLang="en-US"/>
          </a:p>
          <a:p>
            <a:pPr indent="457200"/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动态多轮对话场景库：构建了包含</a:t>
            </a:r>
            <a:r>
              <a:rPr lang="en-US" altLang="zh-CN"/>
              <a:t>500 + </a:t>
            </a:r>
            <a:r>
              <a:rPr lang="zh-CN" altLang="en-US"/>
              <a:t>动态多轮对话场景的数据集，覆盖中文社会中最常见的</a:t>
            </a:r>
            <a:r>
              <a:rPr lang="en-US" altLang="zh-CN"/>
              <a:t> 10 </a:t>
            </a:r>
            <a:r>
              <a:rPr lang="zh-CN" altLang="en-US"/>
              <a:t>大类社交场景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文化特异性指标体系：提出了权力距离适配度、关系亲疏适配度、场合正式度适配度、语言风格适配度</a:t>
            </a:r>
            <a:r>
              <a:rPr lang="en-US" altLang="zh-CN"/>
              <a:t>4 </a:t>
            </a:r>
            <a:r>
              <a:rPr lang="zh-CN" altLang="en-US"/>
              <a:t>个中文社会特有的评测指标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多难度分级设计：</a:t>
            </a:r>
            <a:endParaRPr lang="zh-CN" altLang="en-US"/>
          </a:p>
          <a:p>
            <a:r>
              <a:rPr lang="zh-CN" altLang="en-US"/>
              <a:t>简单级：明确的角色关系</a:t>
            </a:r>
            <a:r>
              <a:rPr lang="en-US" altLang="zh-CN"/>
              <a:t> + </a:t>
            </a:r>
            <a:r>
              <a:rPr lang="zh-CN" altLang="en-US"/>
              <a:t>单一的社交场景（如</a:t>
            </a:r>
            <a:r>
              <a:rPr lang="en-US" altLang="zh-CN"/>
              <a:t> “</a:t>
            </a:r>
            <a:r>
              <a:rPr lang="zh-CN" altLang="en-US"/>
              <a:t>学生向老师请教问题</a:t>
            </a:r>
            <a:r>
              <a:rPr lang="en-US" altLang="zh-CN"/>
              <a:t>”</a:t>
            </a:r>
            <a:r>
              <a:rPr lang="zh-CN" altLang="en-US"/>
              <a:t>）</a:t>
            </a:r>
            <a:r>
              <a:rPr lang="en-US" altLang="zh-CN"/>
              <a:t>			   </a:t>
            </a:r>
            <a:endParaRPr lang="en-US" altLang="zh-CN"/>
          </a:p>
          <a:p>
            <a:r>
              <a:rPr lang="zh-CN" altLang="en-US"/>
              <a:t>中等级：隐含的角色关系</a:t>
            </a:r>
            <a:r>
              <a:rPr lang="en-US" altLang="zh-CN"/>
              <a:t> + </a:t>
            </a:r>
            <a:r>
              <a:rPr lang="zh-CN" altLang="en-US"/>
              <a:t>混合的社交场景（如</a:t>
            </a:r>
            <a:r>
              <a:rPr lang="en-US" altLang="zh-CN"/>
              <a:t> “</a:t>
            </a:r>
            <a:r>
              <a:rPr lang="zh-CN" altLang="en-US"/>
              <a:t>在公司年会上，员工向老板敬酒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困难级：模糊的角色关系</a:t>
            </a:r>
            <a:r>
              <a:rPr lang="en-US" altLang="zh-CN"/>
              <a:t> + </a:t>
            </a:r>
            <a:r>
              <a:rPr lang="zh-CN" altLang="en-US"/>
              <a:t>冲突的社交需求（如</a:t>
            </a:r>
            <a:r>
              <a:rPr lang="en-US" altLang="zh-CN"/>
              <a:t> “</a:t>
            </a:r>
            <a:r>
              <a:rPr lang="zh-CN" altLang="en-US"/>
              <a:t>在家庭聚会中，晚辈需要指出长辈的错误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 Your Place: Diagnosing Implicit Social Adaptation Failures in Chinese Large Language Models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四、核心实验结论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所有中文</a:t>
            </a:r>
            <a:r>
              <a:rPr lang="en-US" altLang="zh-CN"/>
              <a:t> LLM </a:t>
            </a:r>
            <a:r>
              <a:rPr lang="zh-CN" altLang="en-US"/>
              <a:t>普遍存在隐性社会适应失败：所有中文</a:t>
            </a:r>
            <a:r>
              <a:rPr lang="en-US" altLang="zh-CN"/>
              <a:t> LLM </a:t>
            </a:r>
            <a:r>
              <a:rPr lang="zh-CN" altLang="en-US"/>
              <a:t>普遍存在隐性社会适应失败，失败率随任务难度递增（简单</a:t>
            </a:r>
            <a:r>
              <a:rPr lang="en-US" altLang="zh-CN"/>
              <a:t> 15%-25%</a:t>
            </a:r>
            <a:r>
              <a:rPr lang="zh-CN" altLang="en-US"/>
              <a:t>、中等</a:t>
            </a:r>
            <a:r>
              <a:rPr lang="en-US" altLang="zh-CN"/>
              <a:t> 35%-45%</a:t>
            </a:r>
            <a:r>
              <a:rPr lang="zh-CN" altLang="en-US"/>
              <a:t>、困难</a:t>
            </a:r>
            <a:r>
              <a:rPr lang="en-US" altLang="zh-CN"/>
              <a:t> 60%-75%</a:t>
            </a:r>
            <a:r>
              <a:rPr lang="zh-CN" altLang="en-US"/>
              <a:t>），最常见为权力距离适配（</a:t>
            </a:r>
            <a:r>
              <a:rPr lang="en-US" altLang="zh-CN"/>
              <a:t>35%</a:t>
            </a:r>
            <a:r>
              <a:rPr lang="zh-CN" altLang="en-US"/>
              <a:t>）和语言风格适配（</a:t>
            </a:r>
            <a:r>
              <a:rPr lang="en-US" altLang="zh-CN"/>
              <a:t>28%</a:t>
            </a:r>
            <a:r>
              <a:rPr lang="zh-CN" altLang="en-US"/>
              <a:t>）失败，说明其对中文社会层级与礼仪理解不足。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闭源中文模型与多语言模型的中文版本存在显著差异：闭源中文模型与多语言模型中文版本差异显著：多语言模型跨文化表现较好，但中文本土文化场景失败率比闭源中文模型高</a:t>
            </a:r>
            <a:r>
              <a:rPr lang="en-US" altLang="zh-CN"/>
              <a:t> 20%-30%</a:t>
            </a:r>
            <a:r>
              <a:rPr lang="zh-CN" altLang="en-US"/>
              <a:t>；闭源中文模型本土适配性强，却易在低权力距离场景过度客套，印证社会适应能力依赖训练数据中的文化信息。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模型规模与社会适应能力无显著正相关：模型规模与社会适应能力无显著正相关，开源大参数量模型（</a:t>
            </a:r>
            <a:r>
              <a:rPr lang="en-US" altLang="zh-CN"/>
              <a:t>70B/53B</a:t>
            </a:r>
            <a:r>
              <a:rPr lang="zh-CN" altLang="en-US"/>
              <a:t>）比小参数量模型（</a:t>
            </a:r>
            <a:r>
              <a:rPr lang="en-US" altLang="zh-CN"/>
              <a:t>13B/7B</a:t>
            </a:r>
            <a:r>
              <a:rPr lang="zh-CN" altLang="en-US"/>
              <a:t>）能力仅提升</a:t>
            </a:r>
            <a:r>
              <a:rPr lang="en-US" altLang="zh-CN"/>
              <a:t> 5%-10%</a:t>
            </a:r>
            <a:r>
              <a:rPr lang="zh-CN" altLang="en-US"/>
              <a:t>，部分小参数量模型特定场景表现更优，需针对性文化训练。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提示词增强对社会适应能力的提升有限：提示词增强对社会适应能力提升有限，仅简单级任务提升</a:t>
            </a:r>
            <a:r>
              <a:rPr lang="en-US" altLang="zh-CN"/>
              <a:t> 10%-15%</a:t>
            </a:r>
            <a:r>
              <a:rPr lang="zh-CN" altLang="en-US"/>
              <a:t>，中高难度提升不足</a:t>
            </a:r>
            <a:r>
              <a:rPr lang="en-US" altLang="zh-CN"/>
              <a:t> 5%</a:t>
            </a:r>
            <a:r>
              <a:rPr lang="zh-CN" altLang="en-US"/>
              <a:t>，且</a:t>
            </a:r>
            <a:r>
              <a:rPr lang="en-US" altLang="zh-CN"/>
              <a:t> LLM </a:t>
            </a:r>
            <a:r>
              <a:rPr lang="zh-CN" altLang="en-US"/>
              <a:t>优先遵循训练数据文化模式，而非提示词要求，说明其未真正理解社会规范。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Born Pragmatic, Trained to Hallucinate? 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Quantifying the Origins of Contextual Bias in LLMs via the PaCE Benchmark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一、核心定位与研究背景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这篇是</a:t>
            </a:r>
            <a:r>
              <a:rPr lang="en-US" altLang="zh-CN"/>
              <a:t> ACL 2026 Findings </a:t>
            </a:r>
            <a:r>
              <a:rPr lang="zh-CN" altLang="en-US"/>
              <a:t>收录的、针对大语言模型上下文偏差与幻觉根源溯源的开创性研究，与前两篇论文出自同一研究团队，核心解决了学界长期存在的颠覆性争议：</a:t>
            </a:r>
            <a:r>
              <a:rPr lang="en-US" altLang="zh-CN"/>
              <a:t>LLM </a:t>
            </a:r>
            <a:r>
              <a:rPr lang="zh-CN" altLang="en-US"/>
              <a:t>的上下文幻觉</a:t>
            </a:r>
            <a:r>
              <a:rPr lang="en-US" altLang="zh-CN"/>
              <a:t> / </a:t>
            </a:r>
            <a:r>
              <a:rPr lang="zh-CN" altLang="en-US"/>
              <a:t>偏差，到底是预训练阶段天生自带的，还是后续</a:t>
            </a:r>
            <a:r>
              <a:rPr lang="en-US" altLang="zh-CN"/>
              <a:t> SFT/RLHF </a:t>
            </a:r>
            <a:r>
              <a:rPr lang="zh-CN" altLang="en-US"/>
              <a:t>等对齐训练人为带来的？</a:t>
            </a:r>
            <a:endParaRPr lang="zh-CN" altLang="en-US"/>
          </a:p>
          <a:p>
            <a:r>
              <a:rPr lang="zh-CN" altLang="en-US"/>
              <a:t>论文标题直接点明核心假设：</a:t>
            </a:r>
            <a:r>
              <a:rPr lang="en-US" altLang="zh-CN">
                <a:solidFill>
                  <a:srgbClr val="FF0000"/>
                </a:solidFill>
              </a:rPr>
              <a:t>LLM </a:t>
            </a:r>
            <a:r>
              <a:rPr lang="zh-CN" altLang="en-US">
                <a:solidFill>
                  <a:srgbClr val="FF0000"/>
                </a:solidFill>
              </a:rPr>
              <a:t>在预训练阶段天生就具备符合人类习惯的语用能力</a:t>
            </a:r>
            <a:r>
              <a:rPr lang="en-US" altLang="zh-CN">
                <a:solidFill>
                  <a:srgbClr val="FF0000"/>
                </a:solidFill>
              </a:rPr>
              <a:t>(Born Pragmatic</a:t>
            </a:r>
            <a:r>
              <a:rPr lang="en-US" altLang="zh-CN" i="1">
                <a:solidFill>
                  <a:srgbClr val="FF0000"/>
                </a:solidFill>
              </a:rPr>
              <a:t>)</a:t>
            </a:r>
            <a:r>
              <a:rPr lang="zh-CN" altLang="en-US">
                <a:solidFill>
                  <a:srgbClr val="FF0000"/>
                </a:solidFill>
              </a:rPr>
              <a:t>，而后续为了迎合人类偏好的对齐训练，反而让模型学会了编造信息、产生上下文幻觉</a:t>
            </a:r>
            <a:r>
              <a:rPr lang="en-US" altLang="zh-CN">
                <a:solidFill>
                  <a:srgbClr val="FF0000"/>
                </a:solidFill>
              </a:rPr>
              <a:t>(Trained to Hallucinate)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）核心术语定义</a:t>
            </a:r>
            <a:endParaRPr lang="zh-CN" altLang="en-US"/>
          </a:p>
          <a:p>
            <a:r>
              <a:rPr lang="zh-CN" altLang="en-US" b="1"/>
              <a:t>上下文偏差</a:t>
            </a:r>
            <a:r>
              <a:rPr lang="zh-CN" altLang="en-US"/>
              <a:t>（</a:t>
            </a:r>
            <a:r>
              <a:rPr lang="en-US" altLang="zh-CN"/>
              <a:t>Contextual Bias</a:t>
            </a:r>
            <a:r>
              <a:rPr lang="zh-CN" altLang="en-US"/>
              <a:t>）：</a:t>
            </a:r>
            <a:r>
              <a:rPr lang="en-US" altLang="zh-CN"/>
              <a:t>LLM </a:t>
            </a:r>
            <a:r>
              <a:rPr lang="zh-CN" altLang="en-US"/>
              <a:t>在基于给定上下文生成内容时，偏离、违背、编造上下文信息的行为，是</a:t>
            </a:r>
            <a:r>
              <a:rPr lang="en-US" altLang="zh-CN"/>
              <a:t> RAG</a:t>
            </a:r>
            <a:r>
              <a:rPr lang="zh-CN" altLang="en-US"/>
              <a:t>、智能客服、摘要生成等落地场景的核心痛点。</a:t>
            </a:r>
            <a:endParaRPr lang="zh-CN" altLang="en-US"/>
          </a:p>
          <a:p>
            <a:r>
              <a:rPr lang="zh-CN" altLang="en-US" b="1"/>
              <a:t>语用能力</a:t>
            </a:r>
            <a:r>
              <a:rPr lang="zh-CN" altLang="en-US"/>
              <a:t>（</a:t>
            </a:r>
            <a:r>
              <a:rPr lang="en-US" altLang="zh-CN"/>
              <a:t>Pragmatic Competence</a:t>
            </a:r>
            <a:r>
              <a:rPr lang="zh-CN" altLang="en-US"/>
              <a:t>）：模型基于对话语境、共同知识（</a:t>
            </a:r>
            <a:r>
              <a:rPr lang="en-US" altLang="zh-CN"/>
              <a:t>Common Ground</a:t>
            </a:r>
            <a:r>
              <a:rPr lang="zh-CN" altLang="en-US"/>
              <a:t>），遵循人类对话规则生成合适内容的能力，核心是格赖斯合作原则。</a:t>
            </a:r>
            <a:endParaRPr lang="zh-CN" altLang="en-US"/>
          </a:p>
          <a:p>
            <a:r>
              <a:rPr lang="zh-CN" altLang="en-US" b="1"/>
              <a:t>两阶段训练范式</a:t>
            </a:r>
            <a:r>
              <a:rPr lang="zh-CN" altLang="en-US"/>
              <a:t>：当前</a:t>
            </a:r>
            <a:r>
              <a:rPr lang="en-US" altLang="zh-CN"/>
              <a:t> LLM </a:t>
            </a:r>
            <a:r>
              <a:rPr lang="zh-CN" altLang="en-US"/>
              <a:t>的标准训练流程分为两个完全独立的阶段，也是论文溯源的核心变量：</a:t>
            </a:r>
            <a:endParaRPr lang="zh-CN" altLang="en-US"/>
          </a:p>
          <a:p>
            <a:r>
              <a:rPr lang="zh-CN" altLang="en-US" b="1"/>
              <a:t>预训练阶段</a:t>
            </a:r>
            <a:r>
              <a:rPr lang="zh-CN" altLang="en-US"/>
              <a:t>：基于海量文本的下一词预测（</a:t>
            </a:r>
            <a:r>
              <a:rPr lang="en-US" altLang="zh-CN"/>
              <a:t>Next Token Prediction</a:t>
            </a:r>
            <a:r>
              <a:rPr lang="zh-CN" altLang="en-US"/>
              <a:t>），目标是学习语言规律、世界知识与人类语用习惯；</a:t>
            </a:r>
            <a:endParaRPr lang="zh-CN" altLang="en-US"/>
          </a:p>
          <a:p>
            <a:r>
              <a:rPr lang="zh-CN" altLang="en-US" b="1"/>
              <a:t>对齐阶段：</a:t>
            </a:r>
            <a:r>
              <a:rPr lang="zh-CN" altLang="en-US"/>
              <a:t>包括</a:t>
            </a:r>
            <a:r>
              <a:rPr lang="en-US" altLang="zh-CN"/>
              <a:t> SFT</a:t>
            </a:r>
            <a:r>
              <a:rPr lang="zh-CN" altLang="en-US"/>
              <a:t>（有监督微调）、</a:t>
            </a:r>
            <a:r>
              <a:rPr lang="en-US" altLang="zh-CN"/>
              <a:t>RLHF/RLAIF</a:t>
            </a:r>
            <a:r>
              <a:rPr lang="zh-CN" altLang="en-US"/>
              <a:t>（人类</a:t>
            </a:r>
            <a:r>
              <a:rPr lang="en-US" altLang="zh-CN"/>
              <a:t> / AI </a:t>
            </a:r>
            <a:r>
              <a:rPr lang="zh-CN" altLang="en-US"/>
              <a:t>反馈强化学习），目标是让模型符合人类偏好，更有用、更无害。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Born Pragmatic, Trained to Hallucinate? 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Quantifying the Origins of Contextual Bias in LLMs via the PaCE Benchmark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一、核心定位与研究背景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）底层理论支撑</a:t>
            </a:r>
            <a:endParaRPr lang="zh-CN" altLang="en-US"/>
          </a:p>
          <a:p>
            <a:r>
              <a:rPr lang="zh-CN" altLang="en-US"/>
              <a:t>格赖斯合作原则（</a:t>
            </a:r>
            <a:r>
              <a:rPr lang="en-US" altLang="zh-CN"/>
              <a:t>Grice's Cooperative Principle</a:t>
            </a:r>
            <a:r>
              <a:rPr lang="zh-CN" altLang="en-US"/>
              <a:t>）人类对话的核心语用规则，包含四大准则：</a:t>
            </a:r>
            <a:endParaRPr lang="zh-CN" altLang="en-US"/>
          </a:p>
          <a:p>
            <a:r>
              <a:rPr lang="zh-CN" altLang="en-US"/>
              <a:t>质的准则：不说虚假、缺乏证据的话；</a:t>
            </a:r>
            <a:endParaRPr lang="zh-CN" altLang="en-US"/>
          </a:p>
          <a:p>
            <a:r>
              <a:rPr lang="zh-CN" altLang="en-US"/>
              <a:t>量的准则：提供刚好足够的信息，不多说、不少说；</a:t>
            </a:r>
            <a:endParaRPr lang="zh-CN" altLang="en-US"/>
          </a:p>
          <a:p>
            <a:r>
              <a:rPr lang="zh-CN" altLang="en-US"/>
              <a:t>关系准则：内容与对话主题相关；</a:t>
            </a:r>
            <a:endParaRPr lang="zh-CN" altLang="en-US"/>
          </a:p>
          <a:p>
            <a:r>
              <a:rPr lang="zh-CN" altLang="en-US"/>
              <a:t>方式准则：表达清晰、简洁、无歧义。</a:t>
            </a:r>
            <a:endParaRPr lang="zh-CN" altLang="en-US"/>
          </a:p>
          <a:p>
            <a:r>
              <a:rPr lang="zh-CN" altLang="en-US"/>
              <a:t>论文指出：</a:t>
            </a:r>
            <a:r>
              <a:rPr lang="en-US" altLang="zh-CN"/>
              <a:t>LLM </a:t>
            </a:r>
            <a:r>
              <a:rPr lang="zh-CN" altLang="en-US"/>
              <a:t>的上下文偏差，本质是对齐训练让模型为了迎合</a:t>
            </a:r>
            <a:r>
              <a:rPr lang="en-US" altLang="zh-CN"/>
              <a:t> “</a:t>
            </a:r>
            <a:r>
              <a:rPr lang="zh-CN" altLang="en-US"/>
              <a:t>量的准则</a:t>
            </a:r>
            <a:r>
              <a:rPr lang="en-US" altLang="zh-CN"/>
              <a:t> / </a:t>
            </a:r>
            <a:r>
              <a:rPr lang="zh-CN" altLang="en-US"/>
              <a:t>人类偏好</a:t>
            </a:r>
            <a:r>
              <a:rPr lang="en-US" altLang="zh-CN"/>
              <a:t>”</a:t>
            </a:r>
            <a:r>
              <a:rPr lang="zh-CN" altLang="en-US"/>
              <a:t>，牺牲了最核心的</a:t>
            </a:r>
            <a:r>
              <a:rPr lang="en-US" altLang="zh-CN"/>
              <a:t> “</a:t>
            </a:r>
            <a:r>
              <a:rPr lang="zh-CN" altLang="en-US"/>
              <a:t>质的准则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Born Pragmatic, Trained to Hallucinate? 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Quantifying the Origins of Contextual Bias in LLMs via the PaCE Benchmark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二、现有研究的核心缺陷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只测现象，不溯根源：现有幻觉评测仅能输出整体幻觉率，无法拆解预训练、</a:t>
            </a:r>
            <a:r>
              <a:rPr lang="en-US" altLang="zh-CN"/>
              <a:t>SFT</a:t>
            </a:r>
            <a:r>
              <a:rPr lang="zh-CN" altLang="en-US"/>
              <a:t>、</a:t>
            </a:r>
            <a:r>
              <a:rPr lang="en-US" altLang="zh-CN"/>
              <a:t>RLHF </a:t>
            </a:r>
            <a:r>
              <a:rPr lang="zh-CN" altLang="en-US"/>
              <a:t>不同阶段对偏差的贡献，无法回答</a:t>
            </a:r>
            <a:r>
              <a:rPr lang="en-US" altLang="zh-CN"/>
              <a:t> “</a:t>
            </a:r>
            <a:r>
              <a:rPr lang="zh-CN" altLang="en-US"/>
              <a:t>幻觉到底从哪来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混淆语用能力与事实偏差：现有基准无法区分</a:t>
            </a:r>
            <a:r>
              <a:rPr lang="en-US" altLang="zh-CN"/>
              <a:t> “</a:t>
            </a:r>
            <a:r>
              <a:rPr lang="zh-CN" altLang="en-US"/>
              <a:t>符合语用规范的合理省略</a:t>
            </a:r>
            <a:r>
              <a:rPr lang="en-US" altLang="zh-CN"/>
              <a:t>” </a:t>
            </a:r>
            <a:r>
              <a:rPr lang="zh-CN" altLang="en-US"/>
              <a:t>和</a:t>
            </a:r>
            <a:r>
              <a:rPr lang="en-US" altLang="zh-CN"/>
              <a:t> “</a:t>
            </a:r>
            <a:r>
              <a:rPr lang="zh-CN" altLang="en-US"/>
              <a:t>违背上下文的偏差编造</a:t>
            </a:r>
            <a:r>
              <a:rPr lang="en-US" altLang="zh-CN"/>
              <a:t>”</a:t>
            </a:r>
            <a:r>
              <a:rPr lang="zh-CN" altLang="en-US"/>
              <a:t>，常出现误判。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场景与目标错配：主流幻觉评测多为闭卷知识问答，而</a:t>
            </a:r>
            <a:r>
              <a:rPr lang="en-US" altLang="zh-CN"/>
              <a:t> LLM 90% </a:t>
            </a:r>
            <a:r>
              <a:rPr lang="zh-CN" altLang="en-US"/>
              <a:t>的落地场景（</a:t>
            </a:r>
            <a:r>
              <a:rPr lang="en-US" altLang="zh-CN"/>
              <a:t>RAG</a:t>
            </a:r>
            <a:r>
              <a:rPr lang="zh-CN" altLang="en-US"/>
              <a:t>、对话、摘要）都是基于给定上下文的开卷生成，现有基准无法适配核心落地需求。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无法排除记忆干扰：评测样本多来自公开语料，模型可通过预训练记忆答对，无法真正评估模型的上下文遵循能力。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Born Pragmatic, Trained to Hallucinate? 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Quantifying the Origins of Contextual Bias in LLMs via the PaCE Benchmark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504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三、核心创新：</a:t>
            </a:r>
            <a:r>
              <a:rPr lang="en-US" altLang="zh-CN" b="1"/>
              <a:t>PaCE Benchmark </a:t>
            </a:r>
            <a:r>
              <a:rPr lang="zh-CN" altLang="en-US" b="1"/>
              <a:t>完整设计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PaCE </a:t>
            </a:r>
            <a:r>
              <a:rPr lang="zh-CN" altLang="en-US"/>
              <a:t>全称为</a:t>
            </a:r>
            <a:r>
              <a:rPr lang="en-US" altLang="zh-CN"/>
              <a:t>Pragmatic Competence and Contextual Bias Evaluation Benchmark</a:t>
            </a:r>
            <a:r>
              <a:rPr lang="zh-CN" altLang="en-US"/>
              <a:t>，是首个同时实现「语用能力量化</a:t>
            </a:r>
            <a:r>
              <a:rPr lang="en-US" altLang="zh-CN"/>
              <a:t> + </a:t>
            </a:r>
            <a:r>
              <a:rPr lang="zh-CN" altLang="en-US"/>
              <a:t>上下文偏差拆解</a:t>
            </a:r>
            <a:r>
              <a:rPr lang="en-US" altLang="zh-CN"/>
              <a:t> + </a:t>
            </a:r>
            <a:r>
              <a:rPr lang="zh-CN" altLang="en-US"/>
              <a:t>训练阶段溯源」的</a:t>
            </a:r>
            <a:r>
              <a:rPr lang="en-US" altLang="zh-CN"/>
              <a:t> LLM </a:t>
            </a:r>
            <a:r>
              <a:rPr lang="zh-CN" altLang="en-US"/>
              <a:t>评测基准，也是论文的核心贡献。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(1). </a:t>
            </a:r>
            <a:r>
              <a:rPr lang="zh-CN" altLang="en-US"/>
              <a:t>基准设计核心原则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控制变量溯源：</a:t>
            </a:r>
            <a:r>
              <a:rPr lang="zh-CN" altLang="en-US"/>
              <a:t>所有任务设计都支持「同一基座、不同训练阶段」的模型对照，精准拆解每个训练阶段的偏差贡献；</a:t>
            </a:r>
            <a:endParaRPr lang="zh-CN" altLang="en-US"/>
          </a:p>
          <a:p>
            <a:r>
              <a:rPr lang="zh-CN" altLang="en-US" b="1"/>
              <a:t>去记忆化构造：</a:t>
            </a:r>
            <a:r>
              <a:rPr lang="en-US" altLang="zh-CN"/>
              <a:t>100% </a:t>
            </a:r>
            <a:r>
              <a:rPr lang="zh-CN" altLang="en-US"/>
              <a:t>的评测样本为人工构造</a:t>
            </a:r>
            <a:r>
              <a:rPr lang="en-US" altLang="zh-CN"/>
              <a:t> / </a:t>
            </a:r>
            <a:r>
              <a:rPr lang="zh-CN" altLang="en-US"/>
              <a:t>小众语料提取，完全不存在于主流</a:t>
            </a:r>
            <a:r>
              <a:rPr lang="en-US" altLang="zh-CN"/>
              <a:t> LLM </a:t>
            </a:r>
            <a:r>
              <a:rPr lang="zh-CN" altLang="en-US"/>
              <a:t>的预训练语料中，彻底排除记忆干扰；</a:t>
            </a:r>
            <a:endParaRPr lang="zh-CN" altLang="en-US"/>
          </a:p>
          <a:p>
            <a:r>
              <a:rPr lang="zh-CN" altLang="en-US" b="1"/>
              <a:t>语用与偏差双维度评估：</a:t>
            </a:r>
            <a:r>
              <a:rPr lang="zh-CN" altLang="en-US"/>
              <a:t>同时量化模型的语用适配度和上下文偏差，避免</a:t>
            </a:r>
            <a:r>
              <a:rPr lang="en-US" altLang="zh-CN"/>
              <a:t> “</a:t>
            </a:r>
            <a:r>
              <a:rPr lang="zh-CN" altLang="en-US"/>
              <a:t>为了忠实度牺牲可用性</a:t>
            </a:r>
            <a:r>
              <a:rPr lang="en-US" altLang="zh-CN"/>
              <a:t>” </a:t>
            </a:r>
            <a:r>
              <a:rPr lang="zh-CN" altLang="en-US"/>
              <a:t>或</a:t>
            </a:r>
            <a:r>
              <a:rPr lang="en-US" altLang="zh-CN"/>
              <a:t> “</a:t>
            </a:r>
            <a:r>
              <a:rPr lang="zh-CN" altLang="en-US"/>
              <a:t>为了可用性牺牲忠实度</a:t>
            </a:r>
            <a:r>
              <a:rPr lang="en-US" altLang="zh-CN"/>
              <a:t>” </a:t>
            </a:r>
            <a:r>
              <a:rPr lang="zh-CN" altLang="en-US"/>
              <a:t>的极端评估；</a:t>
            </a:r>
            <a:endParaRPr lang="zh-CN" altLang="en-US"/>
          </a:p>
          <a:p>
            <a:r>
              <a:rPr lang="zh-CN" altLang="en-US" b="1"/>
              <a:t>全场景覆盖：</a:t>
            </a:r>
            <a:r>
              <a:rPr lang="zh-CN" altLang="en-US"/>
              <a:t>覆盖</a:t>
            </a:r>
            <a:r>
              <a:rPr lang="en-US" altLang="zh-CN"/>
              <a:t> LLM </a:t>
            </a:r>
            <a:r>
              <a:rPr lang="zh-CN" altLang="en-US"/>
              <a:t>核心落地场景，同时设置</a:t>
            </a:r>
            <a:r>
              <a:rPr lang="en-US" altLang="zh-CN"/>
              <a:t> 3 </a:t>
            </a:r>
            <a:r>
              <a:rPr lang="zh-CN" altLang="en-US"/>
              <a:t>个难度等级，实现精细化评估。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Born Pragmatic, Trained to Hallucinate? 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Quantifying the Origins of Contextual Bias in LLMs via the PaCE Benchmark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504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三、核心创新：</a:t>
            </a:r>
            <a:r>
              <a:rPr lang="en-US" altLang="zh-CN" b="1"/>
              <a:t>PaCE Benchmark </a:t>
            </a:r>
            <a:r>
              <a:rPr lang="zh-CN" altLang="en-US" b="1"/>
              <a:t>完整设计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(2)</a:t>
            </a:r>
            <a:r>
              <a:rPr lang="zh-CN" altLang="en-US"/>
              <a:t>四大核心评测任务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713740" y="1946275"/>
          <a:ext cx="10612120" cy="409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030"/>
                <a:gridCol w="2653030"/>
                <a:gridCol w="2653030"/>
                <a:gridCol w="2653030"/>
              </a:tblGrid>
              <a:tr h="8191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核心目标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任务范式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难度设计核心</a:t>
                      </a:r>
                      <a:endParaRPr lang="zh-CN" altLang="en-US"/>
                    </a:p>
                  </a:txBody>
                  <a:tcPr/>
                </a:tc>
              </a:tr>
              <a:tr h="8191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上下文忠实度生成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测试模型严格遵循上下文生成、不编造额外信息的能力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给定上下文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 +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指令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Q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，要求模型生成完全基于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的回答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A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，不得添加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中不存在的信息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简单：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C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有明确答案；中等：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C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有隐含答案需推理；困难：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C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无答案，需模型明确说明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“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无相关信息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”</a:t>
                      </a:r>
                      <a:endParaRPr lang="en-US" altLang="zh-CN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  <a:tr h="8191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冲突信息遵循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测试模型是优先遵循上下文，还是用预训练知识覆盖上下文（知识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Override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偏差）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给定上下文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，其中信息与模型预训练世界知识完全冲突（如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“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地球是平的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”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），要求模型基于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回答问题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简单：单条冲突信息；中等：多条冲突信息；困难：冲突信息与常识完全相反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  <a:tr h="8191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语用适配度评估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同时测试模型的语用能力与上下文忠实度，避免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“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忠实但不可用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”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或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“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可用但不忠实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”</a:t>
                      </a:r>
                      <a:endParaRPr lang="en-US" altLang="zh-CN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给定多轮对话历史（共同知识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CG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）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+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当前指令，要求模型生成既符合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CG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、又符合语用规范的回复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简单：单轮、明确角色；中等：多轮、固定角色；困难：动态角色、隐含语用约束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  <a:tr h="8191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不完整信息处理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测试模型在信息不足时，是明确告知缺失，还是脑补编造信息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给定上下文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uFillTx/>
                        </a:rPr>
                        <a:t> C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，其中缺少回答问题的关键信息，要求模型回答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uFillTx/>
                        </a:rPr>
                        <a:t>简单：明确缺失信息；中等：隐含缺失信息；困难：信息有歧义，需模型澄清</a:t>
                      </a:r>
                      <a:endParaRPr lang="zh-CN" altLang="en-US" sz="140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394970"/>
            <a:ext cx="11437620" cy="757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Born Pragmatic, Trained to Hallucinate? 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Quantifying the Origins of Contextual Bias in LLMs via the PaCE Benchmark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4375" y="990600"/>
            <a:ext cx="10783570" cy="504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四、核心实验结论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）核心结论</a:t>
            </a:r>
            <a:r>
              <a:rPr lang="en-US" altLang="zh-CN"/>
              <a:t> 1</a:t>
            </a:r>
            <a:r>
              <a:rPr lang="zh-CN" altLang="en-US"/>
              <a:t>：预训练基座模型天生具备高上下文忠实度与合格的语用能力（</a:t>
            </a:r>
            <a:r>
              <a:rPr lang="en-US" altLang="zh-CN"/>
              <a:t>Born Pragmatic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）核心结论</a:t>
            </a:r>
            <a:r>
              <a:rPr lang="en-US" altLang="zh-CN"/>
              <a:t> 2</a:t>
            </a:r>
            <a:r>
              <a:rPr lang="zh-CN" altLang="en-US"/>
              <a:t>：对齐训练（</a:t>
            </a:r>
            <a:r>
              <a:rPr lang="en-US" altLang="zh-CN"/>
              <a:t>SFT/RLHF</a:t>
            </a:r>
            <a:r>
              <a:rPr lang="zh-CN" altLang="en-US"/>
              <a:t>）是上下文偏差与幻觉的核心来源（</a:t>
            </a:r>
            <a:r>
              <a:rPr lang="en-US" altLang="zh-CN"/>
              <a:t>Trained to Hallucinate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）核心结论</a:t>
            </a:r>
            <a:r>
              <a:rPr lang="en-US" altLang="zh-CN"/>
              <a:t> 3</a:t>
            </a:r>
            <a:r>
              <a:rPr lang="zh-CN" altLang="en-US"/>
              <a:t>：知识覆盖偏差（</a:t>
            </a:r>
            <a:r>
              <a:rPr lang="en-US" altLang="zh-CN"/>
              <a:t>KO-Bias</a:t>
            </a:r>
            <a:r>
              <a:rPr lang="zh-CN" altLang="en-US"/>
              <a:t>）来自预训练，但对齐训练会显著加剧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）核心结论</a:t>
            </a:r>
            <a:r>
              <a:rPr lang="en-US" altLang="zh-CN"/>
              <a:t> 4</a:t>
            </a:r>
            <a:r>
              <a:rPr lang="zh-CN" altLang="en-US"/>
              <a:t>：模型规模越大，预训练忠实度越高，但对齐训练带来的偏差增幅也越大（反直觉发现）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）核心结论</a:t>
            </a:r>
            <a:r>
              <a:rPr lang="en-US" altLang="zh-CN"/>
              <a:t> 5</a:t>
            </a:r>
            <a:r>
              <a:rPr lang="zh-CN" altLang="en-US"/>
              <a:t>：中文对齐模型的上下文偏差比英文模型更严重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）核心结论</a:t>
            </a:r>
            <a:r>
              <a:rPr lang="en-US" altLang="zh-CN"/>
              <a:t> 6</a:t>
            </a:r>
            <a:r>
              <a:rPr lang="zh-CN" altLang="en-US"/>
              <a:t>：提示词工程仅能小幅缓解偏差，无法解决根源问题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2.25220472440947,&quot;left&quot;:138.35917322834646,&quot;top&quot;:356.92444881889764,&quot;width&quot;:683.1728346456691}"/>
</p:tagLst>
</file>

<file path=ppt/tags/tag2.xml><?xml version="1.0" encoding="utf-8"?>
<p:tagLst xmlns:p="http://schemas.openxmlformats.org/presentationml/2006/main">
  <p:tag name="KSO_WM_DIAGRAM_VIRTUALLY_FRAME" val="{&quot;height&quot;:32.25220472440947,&quot;left&quot;:138.35917322834646,&quot;top&quot;:356.92444881889764,&quot;width&quot;:683.1728346456691}"/>
</p:tagLst>
</file>

<file path=ppt/tags/tag3.xml><?xml version="1.0" encoding="utf-8"?>
<p:tagLst xmlns:p="http://schemas.openxmlformats.org/presentationml/2006/main">
  <p:tag name="KSO_WM_DIAGRAM_VIRTUALLY_FRAME" val="{&quot;height&quot;:32.25220472440947,&quot;left&quot;:138.35917322834646,&quot;top&quot;:356.92444881889764,&quot;width&quot;:683.1728346456691}"/>
</p:tagLst>
</file>

<file path=ppt/tags/tag4.xml><?xml version="1.0" encoding="utf-8"?>
<p:tagLst xmlns:p="http://schemas.openxmlformats.org/presentationml/2006/main">
  <p:tag name="TABLE_ENDDRAG_ORIGIN_RECT" val="859*336"/>
  <p:tag name="TABLE_ENDDRAG_RECT" val="56*117*859*336"/>
</p:tagLst>
</file>

<file path=ppt/tags/tag5.xml><?xml version="1.0" encoding="utf-8"?>
<p:tagLst xmlns:p="http://schemas.openxmlformats.org/presentationml/2006/main">
  <p:tag name="TABLE_ENDDRAG_ORIGIN_RECT" val="847*335"/>
  <p:tag name="TABLE_ENDDRAG_RECT" val="56*172*847*335"/>
</p:tagLst>
</file>

<file path=ppt/tags/tag6.xml><?xml version="1.0" encoding="utf-8"?>
<p:tagLst xmlns:p="http://schemas.openxmlformats.org/presentationml/2006/main">
  <p:tag name="TABLE_ENDDRAG_ORIGIN_RECT" val="861*310"/>
  <p:tag name="TABLE_ENDDRAG_RECT" val="68*207*861*310"/>
</p:tagLst>
</file>

<file path=ppt/tags/tag7.xml><?xml version="1.0" encoding="utf-8"?>
<p:tagLst xmlns:p="http://schemas.openxmlformats.org/presentationml/2006/main">
  <p:tag name="commondata" val="eyJjb3VudCI6NywiaGRpZCI6IjMxNzExY2ZhOGRiYmY2ZmNiYzYyNjhiMDZjYzRhN2U5IiwidXNlckNvdW50Ijo3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10061</Words>
  <Application>WPS 演示</Application>
  <PresentationFormat>宽屏</PresentationFormat>
  <Paragraphs>413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等线</vt:lpstr>
      <vt:lpstr>Calibri</vt:lpstr>
      <vt:lpstr>微软雅黑</vt:lpstr>
      <vt:lpstr>Times New Roman</vt:lpstr>
      <vt:lpstr>Arial Unicode MS</vt:lpstr>
      <vt:lpstr>Calibri Light</vt:lpstr>
      <vt:lpstr>MS PGothic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^</cp:lastModifiedBy>
  <cp:revision>260</cp:revision>
  <dcterms:created xsi:type="dcterms:W3CDTF">2024-11-22T14:03:00Z</dcterms:created>
  <dcterms:modified xsi:type="dcterms:W3CDTF">2026-04-13T22:17:43Z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v1.0_mb_gvBk3h+HIifm6sGlnHEY8g==</vt:lpwstr>
  </property>
  <property fmtid="{D5CDD505-2E9C-101B-9397-08002B2CF9AE}" pid="4" name="ICV">
    <vt:lpwstr>0AD34A0DA26041F18F0DCE6A1D89688F</vt:lpwstr>
  </property>
</Properties>
</file>